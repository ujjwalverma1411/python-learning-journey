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  <p:sldId id="285" r:id="rId12"/>
    <p:sldId id="286" r:id="rId13"/>
    <p:sldId id="287" r:id="rId14"/>
    <p:sldId id="284" r:id="rId15"/>
    <p:sldId id="266" r:id="rId16"/>
    <p:sldId id="279" r:id="rId17"/>
    <p:sldId id="280" r:id="rId18"/>
    <p:sldId id="274" r:id="rId19"/>
    <p:sldId id="278" r:id="rId20"/>
    <p:sldId id="275" r:id="rId21"/>
    <p:sldId id="276" r:id="rId22"/>
    <p:sldId id="267" r:id="rId23"/>
    <p:sldId id="273" r:id="rId24"/>
    <p:sldId id="268" r:id="rId25"/>
    <p:sldId id="269" r:id="rId26"/>
    <p:sldId id="270" r:id="rId27"/>
    <p:sldId id="271" r:id="rId28"/>
    <p:sldId id="272" r:id="rId29"/>
    <p:sldId id="277" r:id="rId30"/>
    <p:sldId id="281" r:id="rId31"/>
    <p:sldId id="282" r:id="rId32"/>
    <p:sldId id="283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1E684-C8B4-48C0-A48E-0C923BC12A1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A259E6-8215-4562-9F2E-B1AAA4756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7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06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C7658-AB8A-4791-2640-DB21F00B3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5E891-193C-5700-8B0B-B32C73F69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BBEB1-4A14-9ED2-76D6-A417AD3FB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76C57-4411-CC47-C3F7-2741F8D96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84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7553D-FE4D-0F3C-7F82-7502898B5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428EE-2C08-72A5-73F9-09E982895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4E678-FB8B-1128-DFC8-E4DDD6C57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7DE85-575F-590D-9A5E-2DBB2FCDC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23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173A-2809-EAE1-561D-E60BC58B4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D7BDC-4D39-1E27-C115-96A60CD1D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F3370-759F-3C13-E4CE-4441752CC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49166-7FAE-30CB-427A-7087CBD5C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91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63D4-A631-713C-C38A-C05D05B5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B98E3-D95F-EE22-BCE8-B6D30A626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6B40E-389C-FFE5-B2CD-F4EDF4340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73F06-95BA-E3FE-3A6D-8DED2940C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32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60515-5F37-CE75-9BC1-0FE105C76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7B72E-412B-15CB-EFF0-B908AB300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95B2A-FC3A-9FFA-2684-05FE8D55C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35EA6-F8EA-41D0-A75F-F7C4E7D41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28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9C7A5-D751-845F-9CF5-3D3E453C1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A4252-0188-6C8E-0849-7897E0569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3337F-7683-6A21-938D-0736BD28F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62115-DF34-542A-89B4-441234D88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25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64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4CE6E-8D32-A0EE-2C93-8E49D184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5F3C1-0F31-33E5-FEEA-29A736208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7E51E-541D-88E1-AF1C-A6096368C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A9ECD-BD62-35C8-AD82-9B35644FB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67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51457-28A0-B38D-26F7-0C193A02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3D674-1B19-FFB1-7F8B-7F67324AB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5D8F9-E0E0-58D1-B58E-AE6938DDD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652A1-BD0D-C946-2DE8-C924718B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67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951FD-5CC9-6EBD-A208-7DED20C5A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6D7F4-4B47-C945-AC70-C4E02C6AD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F0C63-0E33-45AE-DD91-F5660D4AD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CB0CC-D845-E096-2296-E35898C2A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60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0939B-3E6C-76D1-75D8-3CDE896E4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E5EA1-182B-A995-3490-CAAD38525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F1CE6-81E7-41D3-66F2-97A16594A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9719-AEC0-B432-8A2D-B2722B3C9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7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DC86-84F8-00EF-F81E-307B2A95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76271-5CE8-1ED4-7742-FDF9DD969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7D0AB-D086-CAFC-9746-8204745B6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C6CF4-FC0E-263E-8383-F26B4E088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62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271B6-A6DE-7FCE-3F65-4BA15FF5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C0C64-0D32-3DC4-1A8F-32C03C4F3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2296C-B761-46FA-9E7E-B2492B1AD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1E4C0-2320-1E96-7C20-E6AEAD2D9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43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515C2-6ECF-F707-996A-DB24B9F1A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F61C2-3375-A145-15F8-DF4D9E171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DCCD2-5B2D-28E2-8017-AF2EC03C0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AB25C-15A2-BBD3-CED3-1F69509A4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469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EB0D-2834-D7D7-5CE8-F9ACD246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8A018-5D30-21B5-AA32-DB3F46586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F8AC2-579E-70F2-7B51-56A3E7D8B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26A40-386C-9A91-B1FC-209D3D564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302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DF6F-464A-3BD2-B5B9-BA05FB887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87698-8757-4E8E-8A18-C9C937D59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4ED11-C2E1-A795-7EFF-3F1C5A895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226A8-258E-F1BB-BACC-1DE2201D3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527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A34DF-E311-DCAA-F462-0C16108A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9993F-200B-E903-005C-91A0B7CB7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E92C3-AE41-1203-93B7-2AE8C48A9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E2266-89F1-78E6-5BEA-743F85DB1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89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83D11-2D4E-C7F7-C165-E53064B0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9798C8-1E49-7D0B-796B-458368FE4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F5427-8B3A-97EC-D705-D4395A3E0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7525C-6AB2-D95C-B58A-D76CC3BD1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591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D0B33-64A8-D0ED-AD21-E26D051C3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A11DC-760B-FF0F-97E1-8B046F457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27A68-E512-297B-052C-AD082D322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0037B-161B-84CF-35A6-FF5F1A2BD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25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99DF-C014-C459-66BC-CAE8BF83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51AAB-A3F0-8DCD-7F59-7495FD7F1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E8A3C-C318-F56D-BF4F-1CCF9C289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5C69F-F0DB-05D0-5781-809556B46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530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DD2C2-7536-2052-1612-ABE347E9B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8C3EA-A08B-1C35-3B09-DCE033BAC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5EB50-9960-9FE8-417B-EDDF05A2B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B4E80-1BEA-6201-5343-DFD8E6A4B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708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C2B-85C9-AB48-DEC4-1E95F1F6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35968-B04F-9EB9-AF90-D01EE33F4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0C8AA-B1F9-3391-D40D-B362BD11C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51540-5762-0BDE-F59C-275F5BD13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169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E3CAD-9F49-CB97-F903-96905EF6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6E9E7-513C-88C6-3DA8-615ECF13A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5142E-21E9-5453-E43E-922A3C997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2102E-BF6C-17FE-8663-A128B1A5C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32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09B0-1507-4DAB-1B24-173EEF469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13DC9-8809-6107-F44B-83747F2F1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0F92F-1F5F-5609-3A06-5002C3C6E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2175D-6A3D-E867-233B-89DEDEA8F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346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ADBCD-96C9-D932-3FB2-87EAB7694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5D879-1887-1D18-EAE8-210F6C4DE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0B494-0F8D-7E4A-D7B4-F22644FB9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61C01-1969-2A07-D5F1-58B0D0A47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667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AAD8C-DA81-8C2C-FFA7-7AE44CD4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97C42-1A2C-97DF-8A1B-4BA702D77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2C59E-5C86-7FEA-7BEF-CA1A1A64B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33970-DE5B-21BD-93A7-417D0CB23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131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78DBB-AF8E-26B8-6701-EB150627E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7442C-E1AB-782D-18EF-71689D726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A3C18-9178-BE2A-0530-A384E2C45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7C732-8181-1A23-6665-720AB34D6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733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93F21-D1F7-B0E8-BEED-35DA29A45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FF982-5F62-2218-90BA-4FAEDCBE1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B17B6-5DB8-861A-D739-91D6EA5A0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82C87-C0C7-72B4-3AC2-0DC61DF18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486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40E9D-B6DD-2F36-1081-3A0963618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39B64-9F12-B87C-BC20-1E35CD0D7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91D03-BBAC-EAF2-2DC4-68CE925CA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FDFFD-4D60-DE51-C1AB-F93694081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431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A9EC-D6E9-89C5-1074-858F123CD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23902-16C3-9CF8-6E57-1B90BBDEB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36C3F-EA97-8EE7-A7F0-BDFA8E13F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5920E-CC89-8B10-2F7C-4B08115A5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259E6-8215-4562-9F2E-B1AAA4756B3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88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5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86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34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8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0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0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3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9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3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9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C144730-EF44-4355-9243-2DAA054DAE8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B917A51-4DA5-4D66-8416-7E2B28D0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907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jjwalVerma1411/python-learning-journey/tree/main/Week1/Day1" TargetMode="External"/><Relationship Id="rId2" Type="http://schemas.openxmlformats.org/officeDocument/2006/relationships/hyperlink" Target="http://www.linkedin.com/in/ujjwalverma141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BFEB0-01CC-A6FE-5136-69329FFAA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478082"/>
            <a:ext cx="9144000" cy="2387600"/>
          </a:xfrm>
        </p:spPr>
        <p:txBody>
          <a:bodyPr anchor="ctr"/>
          <a:lstStyle/>
          <a:p>
            <a:r>
              <a:rPr lang="en-US" dirty="0"/>
              <a:t>Day - 1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E37D1-D588-37C6-9F1B-B1CC27B15E63}"/>
              </a:ext>
            </a:extLst>
          </p:cNvPr>
          <p:cNvSpPr txBox="1"/>
          <p:nvPr/>
        </p:nvSpPr>
        <p:spPr>
          <a:xfrm>
            <a:off x="1736377" y="4299634"/>
            <a:ext cx="87192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By: Ujjwal Verma</a:t>
            </a:r>
          </a:p>
          <a:p>
            <a:pPr algn="ctr"/>
            <a:r>
              <a:rPr lang="en-US" dirty="0">
                <a:hlinkClick r:id="rId2"/>
              </a:rPr>
              <a:t>www.linkedin.com/in/ujjwalverma1411</a:t>
            </a:r>
            <a:endParaRPr lang="en-US" dirty="0"/>
          </a:p>
          <a:p>
            <a:pPr algn="ctr"/>
            <a:r>
              <a:rPr lang="en-US" dirty="0">
                <a:hlinkClick r:id="rId3"/>
              </a:rPr>
              <a:t>https://github.com/UjjwalVerma1411/python-learning-journey/tree/main/Week1/Day1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2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AE443-AB32-E19A-9160-A24733867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Coding n Programming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141A40-31A1-0422-A00B-2ABEC0951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234189"/>
              </p:ext>
            </p:extLst>
          </p:nvPr>
        </p:nvGraphicFramePr>
        <p:xfrm>
          <a:off x="535118" y="2595826"/>
          <a:ext cx="11121762" cy="39319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560881">
                  <a:extLst>
                    <a:ext uri="{9D8B030D-6E8A-4147-A177-3AD203B41FA5}">
                      <a16:colId xmlns:a16="http://schemas.microsoft.com/office/drawing/2014/main" val="3978425352"/>
                    </a:ext>
                  </a:extLst>
                </a:gridCol>
                <a:gridCol w="5560881">
                  <a:extLst>
                    <a:ext uri="{9D8B030D-6E8A-4147-A177-3AD203B41FA5}">
                      <a16:colId xmlns:a16="http://schemas.microsoft.com/office/drawing/2014/main" val="10059594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487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Writing instructions in a programming language.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Creating a complete software solution.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870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Translating logic into specific syntax.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Problem-solving, algorithms, and overall system architecture.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675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Focuses on syntax and implementation.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Includes planning, design, coding, testing, debugging, and maintenance.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721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A subset of programming.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A broader process that includes coding.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1741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Writing scripts, fixing syntax errors (debugging), and implementing smaller pieces of functionality</a:t>
                      </a:r>
                      <a:r>
                        <a:rPr lang="en-US" sz="1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Brainstorming, planning algorithms, testing for bugs, evaluating performance, and maintaining the software's life cycle.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204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Example: Writing a Python function to sort a list.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Example: Building a complete inventory management application.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4691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FFA4F0-6CFA-CFB0-A475-AD6BF9C45EC1}"/>
              </a:ext>
            </a:extLst>
          </p:cNvPr>
          <p:cNvSpPr txBox="1"/>
          <p:nvPr/>
        </p:nvSpPr>
        <p:spPr>
          <a:xfrm>
            <a:off x="535117" y="1122269"/>
            <a:ext cx="1112176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What is </a:t>
            </a:r>
            <a:r>
              <a:rPr lang="en-US" sz="2000" u="sng" dirty="0"/>
              <a:t>programming</a:t>
            </a:r>
            <a:r>
              <a:rPr lang="en-US" sz="2000" dirty="0"/>
              <a:t> – Giving computer a sequence of instruction to solve a problem.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For </a:t>
            </a:r>
            <a:r>
              <a:rPr lang="en-US" sz="2000" dirty="0" err="1"/>
              <a:t>eg</a:t>
            </a:r>
            <a:r>
              <a:rPr lang="en-US" sz="2000" dirty="0"/>
              <a:t>: Calculate the sum of 2 numbers.</a:t>
            </a:r>
          </a:p>
          <a:p>
            <a:pPr lvl="2"/>
            <a:r>
              <a:rPr lang="en-US" sz="2000" dirty="0"/>
              <a:t>&gt;Human Solution: Take first number &gt; Take second number &gt; Add them &gt; Show result</a:t>
            </a:r>
          </a:p>
          <a:p>
            <a:pPr lvl="2"/>
            <a:r>
              <a:rPr lang="en-US" sz="2000" dirty="0"/>
              <a:t>&gt;Programming is simply writing those instruction in a language that computer understands.</a:t>
            </a:r>
          </a:p>
        </p:txBody>
      </p:sp>
    </p:spTree>
    <p:extLst>
      <p:ext uri="{BB962C8B-B14F-4D97-AF65-F5344CB8AC3E}">
        <p14:creationId xmlns:p14="http://schemas.microsoft.com/office/powerpoint/2010/main" val="15630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0164-0253-005A-C4B1-225A5FFA3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D612-FEC2-FD47-72C3-C8378A122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620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10BFD-81B1-7154-0609-E84BF61A82C6}"/>
              </a:ext>
            </a:extLst>
          </p:cNvPr>
          <p:cNvSpPr txBox="1"/>
          <p:nvPr/>
        </p:nvSpPr>
        <p:spPr>
          <a:xfrm>
            <a:off x="1157206" y="1016312"/>
            <a:ext cx="98775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Integrated Development Environment (IDE) - </a:t>
            </a:r>
            <a:r>
              <a:rPr lang="en-US" dirty="0"/>
              <a:t>programmer's workspace where multiple tools are combined into one application.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C279D-B5D8-CBA2-0220-C45D2C351D4D}"/>
              </a:ext>
            </a:extLst>
          </p:cNvPr>
          <p:cNvSpPr txBox="1"/>
          <p:nvPr/>
        </p:nvSpPr>
        <p:spPr>
          <a:xfrm>
            <a:off x="1157203" y="2019571"/>
            <a:ext cx="3858748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Without an IDE:</a:t>
            </a:r>
          </a:p>
          <a:p>
            <a:r>
              <a:rPr lang="en-US" dirty="0"/>
              <a:t>You would need: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Editor      → Write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Terminal         → Run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Debugger         → Find bugs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Manager     → Manage files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31BFB-F099-9369-ABF1-967403817745}"/>
              </a:ext>
            </a:extLst>
          </p:cNvPr>
          <p:cNvSpPr txBox="1"/>
          <p:nvPr/>
        </p:nvSpPr>
        <p:spPr>
          <a:xfrm>
            <a:off x="7176048" y="1881072"/>
            <a:ext cx="3858749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With an IDE:</a:t>
            </a:r>
          </a:p>
          <a:p>
            <a:r>
              <a:rPr lang="en-US" dirty="0"/>
              <a:t>Everything is integrated: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Editor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Terminal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Debugger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Explorer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927A96-6D9A-DBA9-5036-DB1FB440F00C}"/>
              </a:ext>
            </a:extLst>
          </p:cNvPr>
          <p:cNvSpPr txBox="1"/>
          <p:nvPr/>
        </p:nvSpPr>
        <p:spPr>
          <a:xfrm>
            <a:off x="1157206" y="4022338"/>
            <a:ext cx="9877588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Eg of IDE: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Beginner Friendly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IDLE (comes with Python) - It is an integrated development environment for Python.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Thonny - It is a free and open-source integrated development environment for Python that is designed for beginners.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Professional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PyCharm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Visual Studio - Technically VS Code is a </a:t>
            </a:r>
            <a:r>
              <a:rPr lang="en-US" b="1" dirty="0"/>
              <a:t>code editor</a:t>
            </a:r>
            <a:r>
              <a:rPr lang="en-US" dirty="0"/>
              <a:t>, but after installing extensions (like the Python extension), it behaves very much like an IDE.</a:t>
            </a:r>
          </a:p>
        </p:txBody>
      </p:sp>
    </p:spTree>
    <p:extLst>
      <p:ext uri="{BB962C8B-B14F-4D97-AF65-F5344CB8AC3E}">
        <p14:creationId xmlns:p14="http://schemas.microsoft.com/office/powerpoint/2010/main" val="199248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C3EF-72F1-B41F-3598-A80AAEEA8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F4876-59A8-775C-D24D-CBDE4079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Text Editor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8245D-D14A-4289-6773-1C5BE61F1C8C}"/>
              </a:ext>
            </a:extLst>
          </p:cNvPr>
          <p:cNvSpPr txBox="1"/>
          <p:nvPr/>
        </p:nvSpPr>
        <p:spPr>
          <a:xfrm>
            <a:off x="249265" y="1058445"/>
            <a:ext cx="7949339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simply a program used to write and edit plain text files.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programming, a text editor is where you write your code.</a:t>
            </a:r>
          </a:p>
          <a:p>
            <a:pPr lvl="1"/>
            <a:endParaRPr lang="en-US" dirty="0"/>
          </a:p>
          <a:p>
            <a:r>
              <a:rPr lang="en-US" dirty="0"/>
              <a:t>Eg: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Very Basic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Notepad (Windows)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TextEdit (Mac)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Code Editors (Advanced Text Editors)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VS Code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Sublime Text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Notepad++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Vim </a:t>
            </a:r>
          </a:p>
          <a:p>
            <a:pPr lvl="1"/>
            <a:r>
              <a:rPr lang="en-US" dirty="0"/>
              <a:t>These are designed for programmers.</a:t>
            </a:r>
          </a:p>
          <a:p>
            <a:pPr lvl="1"/>
            <a:r>
              <a:rPr lang="en-US" dirty="0"/>
              <a:t>They provide: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Syntax highlighting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Auto-completion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Line numbers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Search and replace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File management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DB8983-A65D-6362-C3C7-3F1876620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579167"/>
              </p:ext>
            </p:extLst>
          </p:nvPr>
        </p:nvGraphicFramePr>
        <p:xfrm>
          <a:off x="8460781" y="2958861"/>
          <a:ext cx="3481954" cy="155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40977">
                  <a:extLst>
                    <a:ext uri="{9D8B030D-6E8A-4147-A177-3AD203B41FA5}">
                      <a16:colId xmlns:a16="http://schemas.microsoft.com/office/drawing/2014/main" val="409995706"/>
                    </a:ext>
                  </a:extLst>
                </a:gridCol>
                <a:gridCol w="1740977">
                  <a:extLst>
                    <a:ext uri="{9D8B030D-6E8A-4147-A177-3AD203B41FA5}">
                      <a16:colId xmlns:a16="http://schemas.microsoft.com/office/drawing/2014/main" val="1191831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Text Editor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207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Used mainly to </a:t>
                      </a:r>
                      <a:r>
                        <a:rPr lang="en-US" b="1"/>
                        <a:t>write and edit code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Used to </a:t>
                      </a:r>
                      <a:r>
                        <a:rPr lang="en-US" b="1" dirty="0"/>
                        <a:t>write, run, debug, and manage code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065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91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17AC-875B-5B7C-E931-9DF48EDC0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E726-BB18-1574-BD4D-419702DC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Path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50440-F27D-BB29-A04C-CC8C36CD5352}"/>
              </a:ext>
            </a:extLst>
          </p:cNvPr>
          <p:cNvSpPr txBox="1"/>
          <p:nvPr/>
        </p:nvSpPr>
        <p:spPr>
          <a:xfrm>
            <a:off x="2507261" y="1189124"/>
            <a:ext cx="717747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PATH</a:t>
            </a:r>
            <a:r>
              <a:rPr lang="en-US" dirty="0"/>
              <a:t> is a system variable that tells Windows:</a:t>
            </a:r>
          </a:p>
          <a:p>
            <a:pPr algn="ctr"/>
            <a:r>
              <a:rPr lang="en-US" dirty="0"/>
              <a:t>"Where should I look when the user types a command in the terminal?"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6E837-106C-0685-4C24-5F14216784D5}"/>
              </a:ext>
            </a:extLst>
          </p:cNvPr>
          <p:cNvSpPr txBox="1"/>
          <p:nvPr/>
        </p:nvSpPr>
        <p:spPr>
          <a:xfrm>
            <a:off x="2507261" y="2002783"/>
            <a:ext cx="717747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example, when you type: python</a:t>
            </a:r>
          </a:p>
          <a:p>
            <a:pPr algn="ctr"/>
            <a:r>
              <a:rPr lang="en-US" dirty="0"/>
              <a:t>Windows has to find where python.exe is installed.</a:t>
            </a:r>
          </a:p>
          <a:p>
            <a:pPr algn="ctr"/>
            <a:r>
              <a:rPr lang="en-US" dirty="0"/>
              <a:t>It searches the folders listed in PATH.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729FBB-39DA-AF56-5812-EA73602A82EE}"/>
              </a:ext>
            </a:extLst>
          </p:cNvPr>
          <p:cNvSpPr txBox="1"/>
          <p:nvPr/>
        </p:nvSpPr>
        <p:spPr>
          <a:xfrm>
            <a:off x="399491" y="3116667"/>
            <a:ext cx="618728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Without "Add Python to PATH“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Suppose Python is installed here:</a:t>
            </a:r>
          </a:p>
          <a:p>
            <a:pPr algn="ctr"/>
            <a:r>
              <a:rPr lang="en-US" sz="1400" dirty="0"/>
              <a:t>C:\Users\Ujjwal\AppData\Local\Programs\Python\Python313\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If this folder is </a:t>
            </a:r>
            <a:r>
              <a:rPr lang="en-US" b="1" dirty="0"/>
              <a:t>not</a:t>
            </a:r>
            <a:r>
              <a:rPr lang="en-US" dirty="0"/>
              <a:t> in PATH, then:</a:t>
            </a:r>
          </a:p>
          <a:p>
            <a:pPr algn="ctr"/>
            <a:r>
              <a:rPr lang="en-US" dirty="0"/>
              <a:t>Python will give an error like: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'python' is not recognized as an internal or external command</a:t>
            </a:r>
          </a:p>
          <a:p>
            <a:pPr algn="ctr"/>
            <a:r>
              <a:rPr lang="en-US" dirty="0"/>
              <a:t>because Windows doesn't know where Python is.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C48CD-93CF-BC3F-E311-7130264C5B18}"/>
              </a:ext>
            </a:extLst>
          </p:cNvPr>
          <p:cNvSpPr txBox="1"/>
          <p:nvPr/>
        </p:nvSpPr>
        <p:spPr>
          <a:xfrm>
            <a:off x="6834754" y="3116667"/>
            <a:ext cx="4957756" cy="30777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With "Add Python to PATH“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The installer adds Python's folder to PATH.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Now when you type: “python”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Windows checks PATH, finds:</a:t>
            </a:r>
          </a:p>
          <a:p>
            <a:pPr algn="ctr"/>
            <a:r>
              <a:rPr lang="en-US" sz="1400" dirty="0"/>
              <a:t>C:\Users\Ujjwal\AppData\Local\Programs\Python\Python313\</a:t>
            </a:r>
            <a:endParaRPr lang="en-US" sz="2000" dirty="0"/>
          </a:p>
          <a:p>
            <a:pPr algn="ctr"/>
            <a:r>
              <a:rPr lang="en-US" dirty="0"/>
              <a:t>and runs:</a:t>
            </a:r>
          </a:p>
          <a:p>
            <a:pPr algn="ctr"/>
            <a:r>
              <a:rPr lang="en-US" dirty="0"/>
              <a:t>python.exe</a:t>
            </a:r>
          </a:p>
          <a:p>
            <a:pPr algn="ctr"/>
            <a:r>
              <a:rPr lang="en-US" dirty="0"/>
              <a:t>automatically.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F8B553-DFC6-4DDA-5F5D-3E6EDE5C7FD8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4316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D324-06B5-9193-F20F-F22EA27A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1E585-4F06-358A-B414-860E9840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Path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C6A8AB-349D-2947-8352-5EE5709D128D}"/>
              </a:ext>
            </a:extLst>
          </p:cNvPr>
          <p:cNvSpPr txBox="1"/>
          <p:nvPr/>
        </p:nvSpPr>
        <p:spPr>
          <a:xfrm>
            <a:off x="4920934" y="1094730"/>
            <a:ext cx="235013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/>
              <a:t>Simple Analogy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C6E19-E098-9413-6780-BC7357241B66}"/>
              </a:ext>
            </a:extLst>
          </p:cNvPr>
          <p:cNvSpPr txBox="1"/>
          <p:nvPr/>
        </p:nvSpPr>
        <p:spPr>
          <a:xfrm>
            <a:off x="3614539" y="2050961"/>
            <a:ext cx="49629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Imagine you want a book from a library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71D0AD-84FC-23E0-1492-AAD7469435CA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382354-2972-2AEA-42F7-33C6FD5FAEFF}"/>
              </a:ext>
            </a:extLst>
          </p:cNvPr>
          <p:cNvSpPr txBox="1"/>
          <p:nvPr/>
        </p:nvSpPr>
        <p:spPr>
          <a:xfrm>
            <a:off x="227308" y="3145691"/>
            <a:ext cx="5670678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Without PATH</a:t>
            </a:r>
          </a:p>
          <a:p>
            <a:pPr algn="ctr"/>
            <a:r>
              <a:rPr lang="en-US" dirty="0"/>
              <a:t>You must give the exact address:</a:t>
            </a:r>
          </a:p>
          <a:p>
            <a:r>
              <a:rPr lang="en-US" dirty="0"/>
              <a:t>Go to Building A</a:t>
            </a:r>
            <a:br>
              <a:rPr lang="en-US" dirty="0"/>
            </a:br>
            <a:r>
              <a:rPr lang="en-US" dirty="0"/>
              <a:t>Floor 3</a:t>
            </a:r>
            <a:br>
              <a:rPr lang="en-US" dirty="0"/>
            </a:br>
            <a:r>
              <a:rPr lang="en-US" dirty="0"/>
              <a:t>Shelf 12</a:t>
            </a:r>
            <a:br>
              <a:rPr lang="en-US" dirty="0"/>
            </a:br>
            <a:r>
              <a:rPr lang="en-US" dirty="0"/>
              <a:t>Book Python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D6B0BD-75BC-F9C5-90E9-EE1214F6BAA6}"/>
              </a:ext>
            </a:extLst>
          </p:cNvPr>
          <p:cNvSpPr txBox="1"/>
          <p:nvPr/>
        </p:nvSpPr>
        <p:spPr>
          <a:xfrm>
            <a:off x="6294014" y="3284190"/>
            <a:ext cx="567067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With PATH</a:t>
            </a:r>
          </a:p>
          <a:p>
            <a:pPr algn="ctr"/>
            <a:r>
              <a:rPr lang="en-US" dirty="0"/>
              <a:t>You simply say:</a:t>
            </a:r>
          </a:p>
          <a:p>
            <a:r>
              <a:rPr lang="en-US" dirty="0"/>
              <a:t>Bring Python book</a:t>
            </a:r>
          </a:p>
          <a:p>
            <a:pPr algn="ctr"/>
            <a:r>
              <a:rPr lang="en-US" dirty="0"/>
              <a:t>because the librarian already knows where to look.</a:t>
            </a:r>
          </a:p>
          <a:p>
            <a:pPr algn="ctr"/>
            <a:r>
              <a:rPr lang="en-US" dirty="0"/>
              <a:t>PATH is that list of known locations.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3A7BC8-3C58-2A85-F270-76ABD2031261}"/>
              </a:ext>
            </a:extLst>
          </p:cNvPr>
          <p:cNvSpPr txBox="1"/>
          <p:nvPr/>
        </p:nvSpPr>
        <p:spPr>
          <a:xfrm>
            <a:off x="444283" y="5301605"/>
            <a:ext cx="113034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"Add Python to PATH" tells Windows where Python is installed so that commands like python and pip can be run from any terminal.</a:t>
            </a:r>
            <a:endParaRPr lang="en-US" dirty="0"/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53015A1D-4903-CFD1-588B-7248E17F1AAC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5400000">
            <a:off x="4216625" y="1266316"/>
            <a:ext cx="725398" cy="303335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818770B3-1BF7-D410-35BE-8BD24B2D18B6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rot="16200000" flipH="1">
            <a:off x="7180728" y="1335564"/>
            <a:ext cx="863897" cy="303335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8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7A178-C5E5-1B9B-3150-48FBDDD3B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43FCC-8872-6C0E-5424-AF7D1555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37" y="30331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Terminal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4DFEB-1600-579B-0FC2-2BEDC7D4DD24}"/>
              </a:ext>
            </a:extLst>
          </p:cNvPr>
          <p:cNvSpPr txBox="1"/>
          <p:nvPr/>
        </p:nvSpPr>
        <p:spPr>
          <a:xfrm>
            <a:off x="838200" y="1790756"/>
            <a:ext cx="1039807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Terminal</a:t>
            </a:r>
            <a:r>
              <a:rPr lang="en-US" sz="2400" dirty="0"/>
              <a:t> is the program which let’s us communicate with the operating system by using commands.</a:t>
            </a:r>
          </a:p>
          <a:p>
            <a:pPr algn="ctr"/>
            <a:endParaRPr lang="en-US" sz="2400" b="1" u="sng" dirty="0"/>
          </a:p>
          <a:p>
            <a:pPr algn="ctr"/>
            <a:r>
              <a:rPr lang="en-US" sz="2400" dirty="0"/>
              <a:t>Instead of clicking buttons and icons, you type instructions.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41F70-F052-B233-06F6-F53139094F23}"/>
              </a:ext>
            </a:extLst>
          </p:cNvPr>
          <p:cNvSpPr txBox="1"/>
          <p:nvPr/>
        </p:nvSpPr>
        <p:spPr>
          <a:xfrm>
            <a:off x="896963" y="3901149"/>
            <a:ext cx="4682427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GUI (Graphical User Interface)</a:t>
            </a:r>
          </a:p>
          <a:p>
            <a:pPr algn="ctr"/>
            <a:r>
              <a:rPr lang="en-US" sz="2000" dirty="0"/>
              <a:t>You communicate by clicking:</a:t>
            </a:r>
          </a:p>
          <a:p>
            <a:pPr algn="ctr"/>
            <a:r>
              <a:rPr lang="en-US" sz="2000" dirty="0"/>
              <a:t>Click Folder</a:t>
            </a:r>
            <a:br>
              <a:rPr lang="en-US" sz="2000" dirty="0"/>
            </a:br>
            <a:r>
              <a:rPr lang="en-US" sz="2000" dirty="0"/>
              <a:t>↓</a:t>
            </a:r>
            <a:br>
              <a:rPr lang="en-US" sz="2000" dirty="0"/>
            </a:br>
            <a:r>
              <a:rPr lang="en-US" sz="2000" dirty="0"/>
              <a:t>Click File</a:t>
            </a:r>
            <a:br>
              <a:rPr lang="en-US" sz="2000" dirty="0"/>
            </a:br>
            <a:r>
              <a:rPr lang="en-US" sz="2000" dirty="0"/>
              <a:t>↓</a:t>
            </a:r>
            <a:br>
              <a:rPr lang="en-US" sz="2000" dirty="0"/>
            </a:br>
            <a:r>
              <a:rPr lang="en-US" sz="2000" dirty="0"/>
              <a:t>Open Program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BF395-4FC0-F93B-D359-43EB70DA11B8}"/>
              </a:ext>
            </a:extLst>
          </p:cNvPr>
          <p:cNvSpPr txBox="1"/>
          <p:nvPr/>
        </p:nvSpPr>
        <p:spPr>
          <a:xfrm>
            <a:off x="6096000" y="4378202"/>
            <a:ext cx="5445071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Terminal</a:t>
            </a:r>
          </a:p>
          <a:p>
            <a:pPr algn="ctr"/>
            <a:r>
              <a:rPr lang="en-US" sz="2000" dirty="0"/>
              <a:t>You communicate directly:</a:t>
            </a:r>
          </a:p>
          <a:p>
            <a:pPr algn="ctr"/>
            <a:r>
              <a:rPr lang="en-US" dirty="0"/>
              <a:t>Open Program</a:t>
            </a:r>
          </a:p>
          <a:p>
            <a:pPr algn="ctr"/>
            <a:r>
              <a:rPr lang="en-US" sz="2000" dirty="0"/>
              <a:t>The terminal is often faster and more powerful.</a:t>
            </a:r>
          </a:p>
        </p:txBody>
      </p:sp>
    </p:spTree>
    <p:extLst>
      <p:ext uri="{BB962C8B-B14F-4D97-AF65-F5344CB8AC3E}">
        <p14:creationId xmlns:p14="http://schemas.microsoft.com/office/powerpoint/2010/main" val="392190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0D6A8-F127-82E6-46F8-F97BBD82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5DEBF-1D9D-49F3-3847-C0043D77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37" y="30331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Common Terminal Commands Windows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57913-93E3-B242-3C9F-D55299EEA00A}"/>
              </a:ext>
            </a:extLst>
          </p:cNvPr>
          <p:cNvSpPr txBox="1"/>
          <p:nvPr/>
        </p:nvSpPr>
        <p:spPr>
          <a:xfrm>
            <a:off x="419747" y="1790756"/>
            <a:ext cx="43227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Show files in current folder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0D978-55B5-5857-CA8B-B757834A5CE6}"/>
              </a:ext>
            </a:extLst>
          </p:cNvPr>
          <p:cNvSpPr txBox="1"/>
          <p:nvPr/>
        </p:nvSpPr>
        <p:spPr>
          <a:xfrm>
            <a:off x="419746" y="4374747"/>
            <a:ext cx="432273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 back one folder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224350-3400-A039-DF30-DE98A979F24B}"/>
              </a:ext>
            </a:extLst>
          </p:cNvPr>
          <p:cNvSpPr txBox="1"/>
          <p:nvPr/>
        </p:nvSpPr>
        <p:spPr>
          <a:xfrm>
            <a:off x="5262322" y="4374747"/>
            <a:ext cx="166735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cd ..</a:t>
            </a:r>
          </a:p>
          <a:p>
            <a:pPr algn="ctr"/>
            <a:r>
              <a:rPr lang="en-US" sz="2000" b="1" dirty="0"/>
              <a:t>cd..</a:t>
            </a:r>
          </a:p>
          <a:p>
            <a:pPr algn="ctr"/>
            <a:r>
              <a:rPr lang="en-US" sz="2000" b="1" dirty="0"/>
              <a:t>cd      ..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F8D935-D68C-9174-3489-A166FF098F92}"/>
              </a:ext>
            </a:extLst>
          </p:cNvPr>
          <p:cNvSpPr txBox="1"/>
          <p:nvPr/>
        </p:nvSpPr>
        <p:spPr>
          <a:xfrm>
            <a:off x="5262322" y="1790755"/>
            <a:ext cx="166735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dir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B8C731-6D15-350D-A427-9A51D60B49F7}"/>
              </a:ext>
            </a:extLst>
          </p:cNvPr>
          <p:cNvSpPr txBox="1"/>
          <p:nvPr/>
        </p:nvSpPr>
        <p:spPr>
          <a:xfrm>
            <a:off x="419747" y="2622813"/>
            <a:ext cx="432273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Change folder</a:t>
            </a:r>
          </a:p>
          <a:p>
            <a:pPr algn="ctr"/>
            <a:r>
              <a:rPr lang="en-US" sz="2400" dirty="0"/>
              <a:t>Cd – Change Directory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6F3FE1-CD9A-DE94-3AF5-C2D7C35039D2}"/>
              </a:ext>
            </a:extLst>
          </p:cNvPr>
          <p:cNvSpPr txBox="1"/>
          <p:nvPr/>
        </p:nvSpPr>
        <p:spPr>
          <a:xfrm>
            <a:off x="5262322" y="2622812"/>
            <a:ext cx="166735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cd 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3E4ED0-C964-D2C2-B134-5BD60E4A3478}"/>
              </a:ext>
            </a:extLst>
          </p:cNvPr>
          <p:cNvSpPr txBox="1"/>
          <p:nvPr/>
        </p:nvSpPr>
        <p:spPr>
          <a:xfrm>
            <a:off x="5262322" y="3354549"/>
            <a:ext cx="166735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Folder name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13545F-D385-C92C-07A0-03A288E0FD9A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096000" y="2971800"/>
            <a:ext cx="190500" cy="382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113015-A9D1-24B4-8F36-31E8D3A9B7E7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flipV="1">
            <a:off x="4742483" y="2021588"/>
            <a:ext cx="5198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FBF497-4EB1-2D2E-75EC-E22EE286C365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4742483" y="2853645"/>
            <a:ext cx="519839" cy="184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A3876B8-8B17-4F93-4DD7-1ADA49BBC1D0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742484" y="4605579"/>
            <a:ext cx="51983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33E3D72B-CFF9-CE28-68BC-631EE6A80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178" y="1979161"/>
            <a:ext cx="4891008" cy="421269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D8CCE5B-A578-8E1F-5B29-B343C0039AB4}"/>
              </a:ext>
            </a:extLst>
          </p:cNvPr>
          <p:cNvSpPr txBox="1"/>
          <p:nvPr/>
        </p:nvSpPr>
        <p:spPr>
          <a:xfrm>
            <a:off x="419745" y="5841571"/>
            <a:ext cx="432273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Clear screen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DC712E-40D7-7C8A-A6A3-FC14CB6F5E60}"/>
              </a:ext>
            </a:extLst>
          </p:cNvPr>
          <p:cNvSpPr txBox="1"/>
          <p:nvPr/>
        </p:nvSpPr>
        <p:spPr>
          <a:xfrm>
            <a:off x="5262322" y="5872348"/>
            <a:ext cx="166735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/>
              <a:t>cls</a:t>
            </a:r>
            <a:endParaRPr lang="en-US" sz="20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4FCB6DF-E391-2DA4-20F3-8741F70003D4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4742483" y="6072403"/>
            <a:ext cx="5198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315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9222-D8E9-FFE6-DF6B-0D1FA1FFF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74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Some Python Terminal Command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3E763-EEAC-7686-E60B-94623227F028}"/>
              </a:ext>
            </a:extLst>
          </p:cNvPr>
          <p:cNvSpPr txBox="1"/>
          <p:nvPr/>
        </p:nvSpPr>
        <p:spPr>
          <a:xfrm>
            <a:off x="838200" y="2771274"/>
            <a:ext cx="1039807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 Terminal type – </a:t>
            </a:r>
            <a:r>
              <a:rPr lang="en-US" sz="2400" b="1" u="sng" dirty="0"/>
              <a:t>py, python, py3</a:t>
            </a:r>
            <a:r>
              <a:rPr lang="en-US" sz="2400" b="1" dirty="0"/>
              <a:t> </a:t>
            </a:r>
            <a:r>
              <a:rPr lang="en-US" sz="2400" dirty="0"/>
              <a:t>– to enter python prompt mode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82833-A3AD-71D9-D80B-C0214F9FD720}"/>
              </a:ext>
            </a:extLst>
          </p:cNvPr>
          <p:cNvSpPr txBox="1"/>
          <p:nvPr/>
        </p:nvSpPr>
        <p:spPr>
          <a:xfrm>
            <a:off x="838200" y="1032962"/>
            <a:ext cx="1039807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 Terminal type to check which version of python is installed:</a:t>
            </a:r>
          </a:p>
          <a:p>
            <a:pPr algn="ctr"/>
            <a:r>
              <a:rPr lang="en-US" sz="2400" b="1" u="sng" dirty="0"/>
              <a:t>py --version</a:t>
            </a:r>
          </a:p>
          <a:p>
            <a:pPr algn="ctr"/>
            <a:r>
              <a:rPr lang="en-US" sz="2400" b="1" u="sng" dirty="0"/>
              <a:t>python --version</a:t>
            </a:r>
          </a:p>
          <a:p>
            <a:pPr algn="ctr"/>
            <a:r>
              <a:rPr lang="en-US" sz="2400" b="1" u="sng" dirty="0"/>
              <a:t>python3 --</a:t>
            </a:r>
            <a:r>
              <a:rPr lang="en-US" sz="2400" b="1" u="sng" dirty="0" err="1"/>
              <a:t>verison</a:t>
            </a:r>
            <a:endParaRPr lang="en-US" sz="2400" b="1" u="sn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0746D9-B2D9-1CEF-170D-4BE66BC09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556" y="3627945"/>
            <a:ext cx="9387362" cy="1796051"/>
          </a:xfrm>
          <a:prstGeom prst="rect">
            <a:avLst/>
          </a:prstGeom>
        </p:spPr>
      </p:pic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5961C90F-19F5-404F-B1DC-2D5DF48C667D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5400000">
            <a:off x="5839734" y="3430442"/>
            <a:ext cx="395006" cy="1270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ED86A286-DCFA-6947-6955-456A54B697D1}"/>
              </a:ext>
            </a:extLst>
          </p:cNvPr>
          <p:cNvSpPr/>
          <p:nvPr/>
        </p:nvSpPr>
        <p:spPr>
          <a:xfrm>
            <a:off x="1380443" y="5043476"/>
            <a:ext cx="380522" cy="38052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C55284-5802-7659-EC24-CA58FDB3B383}"/>
              </a:ext>
            </a:extLst>
          </p:cNvPr>
          <p:cNvSpPr txBox="1"/>
          <p:nvPr/>
        </p:nvSpPr>
        <p:spPr>
          <a:xfrm>
            <a:off x="1760965" y="5549050"/>
            <a:ext cx="447568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This is called </a:t>
            </a:r>
            <a:r>
              <a:rPr lang="en-US" sz="2400" b="1" u="sng" dirty="0"/>
              <a:t>Python Prompt</a:t>
            </a:r>
            <a:endParaRPr lang="en-US" sz="2400" dirty="0"/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129AC650-549A-6AA3-C5E9-366C3D166201}"/>
              </a:ext>
            </a:extLst>
          </p:cNvPr>
          <p:cNvCxnSpPr>
            <a:stCxn id="16" idx="4"/>
            <a:endCxn id="18" idx="1"/>
          </p:cNvCxnSpPr>
          <p:nvPr/>
        </p:nvCxnSpPr>
        <p:spPr>
          <a:xfrm rot="16200000" flipH="1">
            <a:off x="1487892" y="5506809"/>
            <a:ext cx="355885" cy="19026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CB35630-339E-96C5-4D9E-8B578551F9E1}"/>
              </a:ext>
            </a:extLst>
          </p:cNvPr>
          <p:cNvSpPr txBox="1"/>
          <p:nvPr/>
        </p:nvSpPr>
        <p:spPr>
          <a:xfrm>
            <a:off x="6679851" y="5169302"/>
            <a:ext cx="50324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place where you can type Python commands directly and get immediate results. We can execute Python code </a:t>
            </a:r>
            <a:r>
              <a:rPr lang="en-US" u="sng" dirty="0"/>
              <a:t>one line at a time</a:t>
            </a:r>
            <a:r>
              <a:rPr lang="en-US" dirty="0"/>
              <a:t>.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74698A79-160B-1305-F62C-0EF129BEC482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 flipV="1">
            <a:off x="6236653" y="5630967"/>
            <a:ext cx="443198" cy="14891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211113D-753B-30DA-9C4A-FC9773355EC4}"/>
              </a:ext>
            </a:extLst>
          </p:cNvPr>
          <p:cNvSpPr txBox="1"/>
          <p:nvPr/>
        </p:nvSpPr>
        <p:spPr>
          <a:xfrm>
            <a:off x="479677" y="6217684"/>
            <a:ext cx="1123264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 Terminal type – </a:t>
            </a:r>
            <a:r>
              <a:rPr lang="en-US" sz="2400" b="1" u="sng" dirty="0"/>
              <a:t>exit(), quit(), Ctrl +z then Enter</a:t>
            </a:r>
            <a:r>
              <a:rPr lang="en-US" sz="2400" dirty="0"/>
              <a:t> – to exit python prompt mode</a:t>
            </a:r>
          </a:p>
        </p:txBody>
      </p:sp>
    </p:spTree>
    <p:extLst>
      <p:ext uri="{BB962C8B-B14F-4D97-AF65-F5344CB8AC3E}">
        <p14:creationId xmlns:p14="http://schemas.microsoft.com/office/powerpoint/2010/main" val="2849321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D2375-E617-B6A3-05F6-4CAB0CDF4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7EFA-EEAB-0EC7-A8C1-B3ADAABB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22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Python Prompt n Python File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8420AF-69EE-868B-479F-D3B556284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59302"/>
              </p:ext>
            </p:extLst>
          </p:nvPr>
        </p:nvGraphicFramePr>
        <p:xfrm>
          <a:off x="838200" y="2514600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934775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280027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Python 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Python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744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Temporary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Saved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3653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One command at a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Full programs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329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/>
                        <a:t>Actual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979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&gt;&gt;&gt; appears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 &gt;&gt;&gt;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274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604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A3B7E-6B23-C3CE-CE37-EF0BC3010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E51B5-205B-10B1-5D6A-C8A684275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22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Argument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FA8BE-0AEF-362C-AF06-733EE1DABF65}"/>
              </a:ext>
            </a:extLst>
          </p:cNvPr>
          <p:cNvSpPr txBox="1"/>
          <p:nvPr/>
        </p:nvSpPr>
        <p:spPr>
          <a:xfrm>
            <a:off x="838200" y="1480790"/>
            <a:ext cx="1039807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An </a:t>
            </a:r>
            <a:r>
              <a:rPr lang="en-US" sz="2400" b="1" dirty="0"/>
              <a:t>argument</a:t>
            </a:r>
            <a:r>
              <a:rPr lang="en-US" sz="2400" dirty="0"/>
              <a:t> is the value you give to a function when you call it.</a:t>
            </a:r>
            <a:endParaRPr lang="en-US" sz="24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CE981C-CB4B-C39C-8D65-FAFCEF64F1EB}"/>
              </a:ext>
            </a:extLst>
          </p:cNvPr>
          <p:cNvSpPr txBox="1"/>
          <p:nvPr/>
        </p:nvSpPr>
        <p:spPr>
          <a:xfrm>
            <a:off x="896963" y="2344688"/>
            <a:ext cx="10398074" cy="15081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print("Hello")</a:t>
            </a:r>
          </a:p>
          <a:p>
            <a:pPr algn="ctr"/>
            <a:endParaRPr lang="en-US" sz="2400" b="1" u="sng" dirty="0"/>
          </a:p>
          <a:p>
            <a:pPr algn="ctr"/>
            <a:r>
              <a:rPr lang="en-US" sz="2000" dirty="0"/>
              <a:t>"Hello"</a:t>
            </a:r>
          </a:p>
          <a:p>
            <a:pPr algn="ctr"/>
            <a:r>
              <a:rPr lang="en-US" sz="2400" dirty="0"/>
              <a:t>is the </a:t>
            </a:r>
            <a:r>
              <a:rPr lang="en-US" sz="2400" b="1" dirty="0"/>
              <a:t>argument</a:t>
            </a:r>
            <a:r>
              <a:rPr lang="en-US" sz="2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C5AADB-BFB6-559F-A318-AC3C6A7FE18E}"/>
              </a:ext>
            </a:extLst>
          </p:cNvPr>
          <p:cNvSpPr txBox="1"/>
          <p:nvPr/>
        </p:nvSpPr>
        <p:spPr>
          <a:xfrm>
            <a:off x="838200" y="3962638"/>
            <a:ext cx="10398074" cy="15081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Print(10)</a:t>
            </a:r>
          </a:p>
          <a:p>
            <a:pPr algn="ctr"/>
            <a:endParaRPr lang="en-US" sz="2400" b="1" u="sng" dirty="0"/>
          </a:p>
          <a:p>
            <a:pPr algn="ctr"/>
            <a:r>
              <a:rPr lang="en-US" sz="2000" dirty="0"/>
              <a:t>10</a:t>
            </a:r>
          </a:p>
          <a:p>
            <a:pPr algn="ctr"/>
            <a:r>
              <a:rPr lang="en-US" sz="2400" dirty="0"/>
              <a:t>is the </a:t>
            </a:r>
            <a:r>
              <a:rPr lang="en-US" sz="2400" b="1" dirty="0"/>
              <a:t>argument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3147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0EE12-AA39-FDC3-F9D9-3CA15BC2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E40BE-785D-6B44-8F0B-B47334B8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22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7E98F-3552-7EB8-9D5F-C42A672B9FE1}"/>
              </a:ext>
            </a:extLst>
          </p:cNvPr>
          <p:cNvSpPr txBox="1"/>
          <p:nvPr/>
        </p:nvSpPr>
        <p:spPr>
          <a:xfrm>
            <a:off x="838200" y="1480790"/>
            <a:ext cx="1039807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</a:t>
            </a:r>
            <a:r>
              <a:rPr lang="en-US" sz="2400" b="1" dirty="0"/>
              <a:t>statement</a:t>
            </a:r>
            <a:r>
              <a:rPr lang="en-US" sz="2400" dirty="0"/>
              <a:t> is a complete instruction given to Python.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514230-B1B6-54E1-95F0-433112217B97}"/>
              </a:ext>
            </a:extLst>
          </p:cNvPr>
          <p:cNvSpPr txBox="1"/>
          <p:nvPr/>
        </p:nvSpPr>
        <p:spPr>
          <a:xfrm>
            <a:off x="838200" y="2270229"/>
            <a:ext cx="1039807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Think:</a:t>
            </a:r>
          </a:p>
          <a:p>
            <a:pPr algn="ctr"/>
            <a:r>
              <a:rPr lang="en-US" sz="2400" dirty="0"/>
              <a:t>A statement tells Python to do something.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7EC843-6E9C-40A1-86E4-BD501BBF36EA}"/>
              </a:ext>
            </a:extLst>
          </p:cNvPr>
          <p:cNvSpPr txBox="1"/>
          <p:nvPr/>
        </p:nvSpPr>
        <p:spPr>
          <a:xfrm>
            <a:off x="838200" y="3429000"/>
            <a:ext cx="333084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print("Hello")</a:t>
            </a:r>
          </a:p>
          <a:p>
            <a:pPr algn="ctr"/>
            <a:r>
              <a:rPr lang="en-US" sz="2400" dirty="0"/>
              <a:t>This is a statement.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Meaning:</a:t>
            </a:r>
          </a:p>
          <a:p>
            <a:pPr algn="ctr"/>
            <a:r>
              <a:rPr lang="en-US" sz="2400" dirty="0"/>
              <a:t>Display Hello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D7850-C565-10B3-20CA-DC05D455968A}"/>
              </a:ext>
            </a:extLst>
          </p:cNvPr>
          <p:cNvSpPr txBox="1"/>
          <p:nvPr/>
        </p:nvSpPr>
        <p:spPr>
          <a:xfrm>
            <a:off x="4430578" y="3429000"/>
            <a:ext cx="333084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x = 10</a:t>
            </a:r>
          </a:p>
          <a:p>
            <a:pPr algn="ctr"/>
            <a:r>
              <a:rPr lang="en-US" sz="2400" dirty="0"/>
              <a:t>This is a statement.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Meaning:</a:t>
            </a:r>
          </a:p>
          <a:p>
            <a:pPr algn="ctr"/>
            <a:r>
              <a:rPr lang="en-US" sz="2400" dirty="0"/>
              <a:t>Store 10 in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DF930A-40A1-A26A-30DF-7657DB777AED}"/>
              </a:ext>
            </a:extLst>
          </p:cNvPr>
          <p:cNvSpPr txBox="1"/>
          <p:nvPr/>
        </p:nvSpPr>
        <p:spPr>
          <a:xfrm>
            <a:off x="7905430" y="3429000"/>
            <a:ext cx="333084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print(x)</a:t>
            </a:r>
          </a:p>
          <a:p>
            <a:pPr algn="ctr"/>
            <a:r>
              <a:rPr lang="en-US" sz="2400" dirty="0"/>
              <a:t>Another statement.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Meaning:</a:t>
            </a:r>
          </a:p>
          <a:p>
            <a:pPr algn="ctr"/>
            <a:r>
              <a:rPr lang="en-US" sz="2400" dirty="0"/>
              <a:t>Display value of 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706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7D8E-C0DB-9298-0D7A-1BEC346D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97F2D-6AF6-F468-BD4B-895902176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22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Expression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1C0DA-E0E8-D6B7-49ED-2CC62F5FFA1B}"/>
              </a:ext>
            </a:extLst>
          </p:cNvPr>
          <p:cNvSpPr txBox="1"/>
          <p:nvPr/>
        </p:nvSpPr>
        <p:spPr>
          <a:xfrm>
            <a:off x="838200" y="1480790"/>
            <a:ext cx="1039807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An </a:t>
            </a:r>
            <a:r>
              <a:rPr lang="en-US" sz="2400" b="1" dirty="0"/>
              <a:t>expression</a:t>
            </a:r>
            <a:r>
              <a:rPr lang="en-US" sz="2400" dirty="0"/>
              <a:t> is anything that Python can evaluate to produce a value.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884EC-6E2A-ABCC-07AE-4519132E6801}"/>
              </a:ext>
            </a:extLst>
          </p:cNvPr>
          <p:cNvSpPr txBox="1"/>
          <p:nvPr/>
        </p:nvSpPr>
        <p:spPr>
          <a:xfrm>
            <a:off x="838200" y="2270229"/>
            <a:ext cx="1039807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Think:</a:t>
            </a:r>
          </a:p>
          <a:p>
            <a:pPr algn="ctr"/>
            <a:r>
              <a:rPr lang="en-US" sz="2400" dirty="0"/>
              <a:t>Expression = Something that gives a result/value.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8B9D17-89DA-DA8F-9D0A-40807B1DA1BA}"/>
              </a:ext>
            </a:extLst>
          </p:cNvPr>
          <p:cNvSpPr txBox="1"/>
          <p:nvPr/>
        </p:nvSpPr>
        <p:spPr>
          <a:xfrm>
            <a:off x="838200" y="3429000"/>
            <a:ext cx="3330844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5 + 3</a:t>
            </a:r>
          </a:p>
          <a:p>
            <a:pPr algn="ctr"/>
            <a:r>
              <a:rPr lang="en-US" sz="2000" dirty="0"/>
              <a:t>Python evaluates it:</a:t>
            </a:r>
          </a:p>
          <a:p>
            <a:pPr algn="ctr"/>
            <a:r>
              <a:rPr lang="en-US" sz="2000" dirty="0"/>
              <a:t>8</a:t>
            </a:r>
            <a:endParaRPr lang="en-US" sz="16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So </a:t>
            </a:r>
            <a:r>
              <a:rPr lang="en-US" sz="1600" dirty="0"/>
              <a:t>5 + 3</a:t>
            </a:r>
            <a:r>
              <a:rPr lang="en-US" sz="2000" dirty="0"/>
              <a:t> is an expression.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EDE41-4D64-90E8-A0D9-3070CBD60412}"/>
              </a:ext>
            </a:extLst>
          </p:cNvPr>
          <p:cNvSpPr txBox="1"/>
          <p:nvPr/>
        </p:nvSpPr>
        <p:spPr>
          <a:xfrm>
            <a:off x="4430578" y="3459778"/>
            <a:ext cx="333084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10</a:t>
            </a:r>
          </a:p>
          <a:p>
            <a:pPr algn="ctr"/>
            <a:r>
              <a:rPr lang="en-US" sz="2000" dirty="0"/>
              <a:t>Value:</a:t>
            </a:r>
          </a:p>
          <a:p>
            <a:pPr algn="ctr"/>
            <a:r>
              <a:rPr lang="en-US" sz="2000" dirty="0"/>
              <a:t>10</a:t>
            </a:r>
          </a:p>
          <a:p>
            <a:pPr algn="ctr"/>
            <a:endParaRPr lang="en-US" sz="1600" dirty="0"/>
          </a:p>
          <a:p>
            <a:pPr algn="ctr"/>
            <a:r>
              <a:rPr lang="en-US" sz="2000" dirty="0"/>
              <a:t>This is also an expression.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7B688-733C-E311-1DEE-F95BE48FDF6C}"/>
              </a:ext>
            </a:extLst>
          </p:cNvPr>
          <p:cNvSpPr txBox="1"/>
          <p:nvPr/>
        </p:nvSpPr>
        <p:spPr>
          <a:xfrm>
            <a:off x="7905430" y="3429000"/>
            <a:ext cx="3330844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"Hello"</a:t>
            </a:r>
          </a:p>
          <a:p>
            <a:pPr algn="ctr"/>
            <a:r>
              <a:rPr lang="en-US" sz="2000" dirty="0"/>
              <a:t>Value:</a:t>
            </a:r>
          </a:p>
          <a:p>
            <a:pPr algn="ctr"/>
            <a:r>
              <a:rPr lang="en-US" sz="1600" dirty="0"/>
              <a:t>Hello</a:t>
            </a:r>
          </a:p>
          <a:p>
            <a:pPr algn="ctr"/>
            <a:r>
              <a:rPr lang="en-US" sz="2000" dirty="0"/>
              <a:t>(String value)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This is also an expression.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CEA8C-7519-63D3-058B-2894AE930AE8}"/>
              </a:ext>
            </a:extLst>
          </p:cNvPr>
          <p:cNvSpPr txBox="1"/>
          <p:nvPr/>
        </p:nvSpPr>
        <p:spPr>
          <a:xfrm>
            <a:off x="2503622" y="5562835"/>
            <a:ext cx="333084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Expression</a:t>
            </a:r>
          </a:p>
          <a:p>
            <a:pPr algn="ctr"/>
            <a:r>
              <a:rPr lang="en-US" sz="2000" dirty="0"/>
              <a:t>Produces a value.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29769-4BAC-9E96-A77F-A868E9DA1166}"/>
              </a:ext>
            </a:extLst>
          </p:cNvPr>
          <p:cNvSpPr txBox="1"/>
          <p:nvPr/>
        </p:nvSpPr>
        <p:spPr>
          <a:xfrm>
            <a:off x="5834466" y="5562835"/>
            <a:ext cx="333084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Statement</a:t>
            </a:r>
          </a:p>
          <a:p>
            <a:pPr algn="ctr"/>
            <a:r>
              <a:rPr lang="en-US" sz="2000" dirty="0"/>
              <a:t>Performs an action.</a:t>
            </a:r>
          </a:p>
        </p:txBody>
      </p:sp>
    </p:spTree>
    <p:extLst>
      <p:ext uri="{BB962C8B-B14F-4D97-AF65-F5344CB8AC3E}">
        <p14:creationId xmlns:p14="http://schemas.microsoft.com/office/powerpoint/2010/main" val="611208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D17CB-2448-5DF0-038B-D8A63D6A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A7D2-6B37-3D61-9399-4E980C8F0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Print Function</a:t>
            </a:r>
          </a:p>
        </p:txBody>
      </p:sp>
    </p:spTree>
    <p:extLst>
      <p:ext uri="{BB962C8B-B14F-4D97-AF65-F5344CB8AC3E}">
        <p14:creationId xmlns:p14="http://schemas.microsoft.com/office/powerpoint/2010/main" val="3331243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7268-33EE-69CF-FAB0-3792733A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5106-7BAE-E2CB-46EF-65BAA1DA2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Hello World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2A6674-6B1C-E5D9-6204-28C5F78F5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413" y="1213795"/>
            <a:ext cx="5143173" cy="533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C635B4A-C52F-8B19-F31D-3ADD8A6A4619}"/>
              </a:ext>
            </a:extLst>
          </p:cNvPr>
          <p:cNvSpPr/>
          <p:nvPr/>
        </p:nvSpPr>
        <p:spPr>
          <a:xfrm>
            <a:off x="4587498" y="1213795"/>
            <a:ext cx="976394" cy="53399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28E1F-4043-D011-9911-71FE7FA7F80E}"/>
              </a:ext>
            </a:extLst>
          </p:cNvPr>
          <p:cNvSpPr txBox="1"/>
          <p:nvPr/>
        </p:nvSpPr>
        <p:spPr>
          <a:xfrm>
            <a:off x="341689" y="2378728"/>
            <a:ext cx="3859776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b="1" u="sng" dirty="0"/>
              <a:t>print</a:t>
            </a:r>
          </a:p>
          <a:p>
            <a:pPr algn="ctr"/>
            <a:r>
              <a:rPr lang="en-US" sz="2000" dirty="0"/>
              <a:t>A built-in Python function.</a:t>
            </a:r>
          </a:p>
          <a:p>
            <a:pPr algn="ctr"/>
            <a:r>
              <a:rPr lang="en-US" sz="2000" dirty="0"/>
              <a:t>Its job is:</a:t>
            </a:r>
          </a:p>
          <a:p>
            <a:pPr algn="ctr"/>
            <a:r>
              <a:rPr lang="en-US" sz="2000" u="sng" dirty="0"/>
              <a:t>Display</a:t>
            </a:r>
            <a:r>
              <a:rPr lang="en-US" sz="2000" dirty="0"/>
              <a:t> something on the screen.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C52701-1A6D-55BE-C23B-46173C34CB78}"/>
              </a:ext>
            </a:extLst>
          </p:cNvPr>
          <p:cNvCxnSpPr/>
          <p:nvPr/>
        </p:nvCxnSpPr>
        <p:spPr>
          <a:xfrm>
            <a:off x="5844906" y="1636312"/>
            <a:ext cx="22937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835EF0B-80F3-0983-FFD4-63C10FFB3C7E}"/>
              </a:ext>
            </a:extLst>
          </p:cNvPr>
          <p:cNvSpPr txBox="1"/>
          <p:nvPr/>
        </p:nvSpPr>
        <p:spPr>
          <a:xfrm>
            <a:off x="4468365" y="2409505"/>
            <a:ext cx="3859776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"Hello World"</a:t>
            </a:r>
            <a:endParaRPr lang="en-US" sz="2000" b="1" u="sng" dirty="0"/>
          </a:p>
          <a:p>
            <a:pPr algn="ctr"/>
            <a:r>
              <a:rPr lang="en-US" sz="2000" dirty="0"/>
              <a:t>A string (text data).</a:t>
            </a:r>
          </a:p>
          <a:p>
            <a:pPr algn="ctr"/>
            <a:r>
              <a:rPr lang="en-US" sz="2000" dirty="0"/>
              <a:t>The quotes tell Python:</a:t>
            </a:r>
          </a:p>
          <a:p>
            <a:pPr algn="ctr"/>
            <a:r>
              <a:rPr lang="en-US" sz="2000" dirty="0"/>
              <a:t>Treat this as text.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96021F-DD38-41AF-970F-EB9C69A84F6A}"/>
              </a:ext>
            </a:extLst>
          </p:cNvPr>
          <p:cNvSpPr txBox="1"/>
          <p:nvPr/>
        </p:nvSpPr>
        <p:spPr>
          <a:xfrm>
            <a:off x="8595041" y="2413338"/>
            <a:ext cx="3131033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happens internally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Python reads print(...)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Finds text inside quotes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Displays it on screen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AE092D7-DEFE-2537-D7E2-5CD911C36B80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6398253" y="1636312"/>
            <a:ext cx="489426" cy="773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11A0B253-3BBE-A4B0-E35D-FCC5ED1E7D5C}"/>
              </a:ext>
            </a:extLst>
          </p:cNvPr>
          <p:cNvCxnSpPr>
            <a:cxnSpLocks/>
            <a:stCxn id="6" idx="3"/>
            <a:endCxn id="21" idx="0"/>
          </p:cNvCxnSpPr>
          <p:nvPr/>
        </p:nvCxnSpPr>
        <p:spPr>
          <a:xfrm>
            <a:off x="8667586" y="1480790"/>
            <a:ext cx="1492972" cy="93254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80F1AB-6145-205F-C734-97E42EA85325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2271577" y="1747785"/>
            <a:ext cx="2804118" cy="630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542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8C24C-B6B9-76BF-589D-BFD45E5B8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2876B-0968-3E18-B13A-FBBFE7FD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Flow of print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87399A-6E83-7F82-8A1C-66455551743A}"/>
              </a:ext>
            </a:extLst>
          </p:cNvPr>
          <p:cNvGrpSpPr/>
          <p:nvPr/>
        </p:nvGrpSpPr>
        <p:grpSpPr>
          <a:xfrm>
            <a:off x="0" y="902209"/>
            <a:ext cx="5143174" cy="5664183"/>
            <a:chOff x="-370827" y="979701"/>
            <a:chExt cx="5143174" cy="566418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2B5F37-FE8A-ED24-2938-42293583652C}"/>
                </a:ext>
              </a:extLst>
            </p:cNvPr>
            <p:cNvSpPr txBox="1"/>
            <p:nvPr/>
          </p:nvSpPr>
          <p:spPr>
            <a:xfrm>
              <a:off x="-370827" y="1057192"/>
              <a:ext cx="5143174" cy="5509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print("Hello")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Python sees print()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Calls the built-in print function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Evaluates the arguments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"Hello" is obtained as a string object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Converts object to displayable text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Sends text to standard output (stdout)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Terminal receives the text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Terminal displays:</a:t>
              </a:r>
              <a:br>
                <a:rPr lang="en-US" sz="1600" dirty="0"/>
              </a:br>
              <a:r>
                <a:rPr lang="en-US" sz="1600" dirty="0"/>
                <a:t>Hello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print() sends newline (\n) by default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Cursor moves to next line</a:t>
              </a:r>
            </a:p>
          </p:txBody>
        </p:sp>
        <p:sp>
          <p:nvSpPr>
            <p:cNvPr id="11" name="Octagon 10">
              <a:extLst>
                <a:ext uri="{FF2B5EF4-FFF2-40B4-BE49-F238E27FC236}">
                  <a16:creationId xmlns:a16="http://schemas.microsoft.com/office/drawing/2014/main" id="{7E62CD60-6481-471B-1C30-D5CFE418467B}"/>
                </a:ext>
              </a:extLst>
            </p:cNvPr>
            <p:cNvSpPr/>
            <p:nvPr/>
          </p:nvSpPr>
          <p:spPr>
            <a:xfrm>
              <a:off x="356462" y="979701"/>
              <a:ext cx="3688596" cy="5664183"/>
            </a:xfrm>
            <a:prstGeom prst="octagon">
              <a:avLst>
                <a:gd name="adj" fmla="val 19948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EC651D1-D235-71F8-58D1-03BE5CF44E0A}"/>
              </a:ext>
            </a:extLst>
          </p:cNvPr>
          <p:cNvGrpSpPr/>
          <p:nvPr/>
        </p:nvGrpSpPr>
        <p:grpSpPr>
          <a:xfrm>
            <a:off x="3826195" y="1696244"/>
            <a:ext cx="4539608" cy="4343107"/>
            <a:chOff x="8351438" y="1859339"/>
            <a:chExt cx="3744554" cy="434310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94AE94-2520-5F46-A6D2-5A93BCF89EC5}"/>
                </a:ext>
              </a:extLst>
            </p:cNvPr>
            <p:cNvSpPr txBox="1"/>
            <p:nvPr/>
          </p:nvSpPr>
          <p:spPr>
            <a:xfrm>
              <a:off x="8351438" y="1955129"/>
              <a:ext cx="3744554" cy="4247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print(5 + 3)</a:t>
              </a:r>
            </a:p>
            <a:p>
              <a:pPr algn="ctr"/>
              <a:r>
                <a:rPr lang="en-US" dirty="0"/>
                <a:t>        ↓</a:t>
              </a:r>
            </a:p>
            <a:p>
              <a:pPr algn="ctr"/>
              <a:r>
                <a:rPr lang="en-US" dirty="0"/>
                <a:t>Evaluate expression</a:t>
              </a:r>
            </a:p>
            <a:p>
              <a:pPr algn="ctr"/>
              <a:r>
                <a:rPr lang="en-US" dirty="0"/>
                <a:t>        ↓</a:t>
              </a:r>
            </a:p>
            <a:p>
              <a:pPr algn="ctr"/>
              <a:r>
                <a:rPr lang="en-US" dirty="0"/>
                <a:t>5 + 3 = 8</a:t>
              </a:r>
            </a:p>
            <a:p>
              <a:pPr algn="ctr"/>
              <a:r>
                <a:rPr lang="en-US" dirty="0"/>
                <a:t>        ↓</a:t>
              </a:r>
            </a:p>
            <a:p>
              <a:pPr algn="ctr"/>
              <a:r>
                <a:rPr lang="en-US" dirty="0"/>
                <a:t>Call print(8)</a:t>
              </a:r>
            </a:p>
            <a:p>
              <a:pPr algn="ctr"/>
              <a:r>
                <a:rPr lang="en-US" dirty="0"/>
                <a:t>        ↓</a:t>
              </a:r>
            </a:p>
            <a:p>
              <a:pPr algn="ctr"/>
              <a:r>
                <a:rPr lang="en-US" dirty="0"/>
                <a:t>Convert 8 to text "8"</a:t>
              </a:r>
            </a:p>
            <a:p>
              <a:pPr algn="ctr"/>
              <a:r>
                <a:rPr lang="en-US" dirty="0"/>
                <a:t>        ↓</a:t>
              </a:r>
            </a:p>
            <a:p>
              <a:pPr algn="ctr"/>
              <a:r>
                <a:rPr lang="en-US" dirty="0"/>
                <a:t>Send to stdout</a:t>
              </a:r>
            </a:p>
            <a:p>
              <a:pPr algn="ctr"/>
              <a:r>
                <a:rPr lang="en-US" dirty="0"/>
                <a:t>        ↓</a:t>
              </a:r>
            </a:p>
            <a:p>
              <a:pPr algn="ctr"/>
              <a:r>
                <a:rPr lang="en-US" dirty="0"/>
                <a:t>Terminal displays 8</a:t>
              </a:r>
            </a:p>
            <a:p>
              <a:pPr algn="ctr"/>
              <a:r>
                <a:rPr lang="en-US" dirty="0"/>
                <a:t>        ↓</a:t>
              </a:r>
            </a:p>
            <a:p>
              <a:pPr algn="ctr"/>
              <a:r>
                <a:rPr lang="en-US" dirty="0"/>
                <a:t>Add newline</a:t>
              </a:r>
            </a:p>
          </p:txBody>
        </p:sp>
        <p:sp>
          <p:nvSpPr>
            <p:cNvPr id="23" name="Octagon 22">
              <a:extLst>
                <a:ext uri="{FF2B5EF4-FFF2-40B4-BE49-F238E27FC236}">
                  <a16:creationId xmlns:a16="http://schemas.microsoft.com/office/drawing/2014/main" id="{F7BC5D3A-A0BE-3D0F-EBD3-2D6F66BB29FF}"/>
                </a:ext>
              </a:extLst>
            </p:cNvPr>
            <p:cNvSpPr/>
            <p:nvPr/>
          </p:nvSpPr>
          <p:spPr>
            <a:xfrm>
              <a:off x="9097505" y="1859339"/>
              <a:ext cx="2256293" cy="4343107"/>
            </a:xfrm>
            <a:prstGeom prst="octagon">
              <a:avLst>
                <a:gd name="adj" fmla="val 19948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4430782-ADB6-3EB9-DC70-2B53D8804E1B}"/>
              </a:ext>
            </a:extLst>
          </p:cNvPr>
          <p:cNvGrpSpPr/>
          <p:nvPr/>
        </p:nvGrpSpPr>
        <p:grpSpPr>
          <a:xfrm>
            <a:off x="6816351" y="1407312"/>
            <a:ext cx="5143174" cy="5016759"/>
            <a:chOff x="-370827" y="1303413"/>
            <a:chExt cx="5143174" cy="501675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E606059-D9C2-F456-F659-261BFFD8FD96}"/>
                </a:ext>
              </a:extLst>
            </p:cNvPr>
            <p:cNvSpPr txBox="1"/>
            <p:nvPr/>
          </p:nvSpPr>
          <p:spPr>
            <a:xfrm>
              <a:off x="-370827" y="1303413"/>
              <a:ext cx="5143174" cy="501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print(True)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Python sees print()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Evaluates argument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True is already a Boolean object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Calls print(True)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Converts Boolean object to text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"True"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Sends "True" to stdout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Terminal displays:</a:t>
              </a:r>
            </a:p>
            <a:p>
              <a:pPr algn="ctr"/>
              <a:r>
                <a:rPr lang="en-US" sz="1600" dirty="0"/>
                <a:t>True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Adds newline (\n)</a:t>
              </a:r>
            </a:p>
          </p:txBody>
        </p:sp>
        <p:sp>
          <p:nvSpPr>
            <p:cNvPr id="30" name="Octagon 29">
              <a:extLst>
                <a:ext uri="{FF2B5EF4-FFF2-40B4-BE49-F238E27FC236}">
                  <a16:creationId xmlns:a16="http://schemas.microsoft.com/office/drawing/2014/main" id="{FA6A13DE-016B-CCBD-1880-F4A721C7DE67}"/>
                </a:ext>
              </a:extLst>
            </p:cNvPr>
            <p:cNvSpPr/>
            <p:nvPr/>
          </p:nvSpPr>
          <p:spPr>
            <a:xfrm>
              <a:off x="623966" y="1303414"/>
              <a:ext cx="3310179" cy="5016758"/>
            </a:xfrm>
            <a:prstGeom prst="octagon">
              <a:avLst>
                <a:gd name="adj" fmla="val 19948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02AA4C89-D544-A151-3B4D-CFCA4A0AF867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63944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83B3-2146-1D0D-4B8F-906E5A04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A907A-FCA2-6E4B-DC7C-1BD97D40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Flow of print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81A112B-EFD0-186D-2133-56945121A016}"/>
              </a:ext>
            </a:extLst>
          </p:cNvPr>
          <p:cNvGrpSpPr/>
          <p:nvPr/>
        </p:nvGrpSpPr>
        <p:grpSpPr>
          <a:xfrm>
            <a:off x="34008" y="1246696"/>
            <a:ext cx="5143174" cy="5089651"/>
            <a:chOff x="117661" y="1095960"/>
            <a:chExt cx="5143174" cy="508965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3C07CE7-05CD-93EE-512C-4CBEBD1B4E85}"/>
                </a:ext>
              </a:extLst>
            </p:cNvPr>
            <p:cNvSpPr txBox="1"/>
            <p:nvPr/>
          </p:nvSpPr>
          <p:spPr>
            <a:xfrm>
              <a:off x="117661" y="1168853"/>
              <a:ext cx="5143174" cy="501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print(10)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Python sees print()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Evaluates argument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10 is already an integer object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Calls print(10)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Converts integer object to text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"10"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Sends "10" to stdout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Terminal displays:</a:t>
              </a:r>
            </a:p>
            <a:p>
              <a:pPr algn="ctr"/>
              <a:r>
                <a:rPr lang="en-US" sz="1600" dirty="0"/>
                <a:t>10</a:t>
              </a:r>
            </a:p>
            <a:p>
              <a:pPr algn="ctr"/>
              <a:r>
                <a:rPr lang="en-US" sz="1600" dirty="0"/>
                <a:t>        ↓</a:t>
              </a:r>
            </a:p>
            <a:p>
              <a:pPr algn="ctr"/>
              <a:r>
                <a:rPr lang="en-US" sz="1600" dirty="0"/>
                <a:t>Adds newline (\n)</a:t>
              </a:r>
            </a:p>
          </p:txBody>
        </p:sp>
        <p:sp>
          <p:nvSpPr>
            <p:cNvPr id="11" name="Octagon 10">
              <a:extLst>
                <a:ext uri="{FF2B5EF4-FFF2-40B4-BE49-F238E27FC236}">
                  <a16:creationId xmlns:a16="http://schemas.microsoft.com/office/drawing/2014/main" id="{A5752243-AE8E-48E4-C03F-469906D5ECB9}"/>
                </a:ext>
              </a:extLst>
            </p:cNvPr>
            <p:cNvSpPr/>
            <p:nvPr/>
          </p:nvSpPr>
          <p:spPr>
            <a:xfrm>
              <a:off x="1171278" y="1095960"/>
              <a:ext cx="3140822" cy="5089651"/>
            </a:xfrm>
            <a:prstGeom prst="octagon">
              <a:avLst>
                <a:gd name="adj" fmla="val 19948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BD858C-ADB0-9826-DBB9-7D97EF233380}"/>
              </a:ext>
            </a:extLst>
          </p:cNvPr>
          <p:cNvGrpSpPr/>
          <p:nvPr/>
        </p:nvGrpSpPr>
        <p:grpSpPr>
          <a:xfrm>
            <a:off x="4414865" y="2183115"/>
            <a:ext cx="3362267" cy="3216812"/>
            <a:chOff x="4414864" y="1859339"/>
            <a:chExt cx="3362267" cy="321681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E26AC1-6C19-DD9A-2007-E0186D69F365}"/>
                </a:ext>
              </a:extLst>
            </p:cNvPr>
            <p:cNvSpPr txBox="1"/>
            <p:nvPr/>
          </p:nvSpPr>
          <p:spPr>
            <a:xfrm>
              <a:off x="4414864" y="1859339"/>
              <a:ext cx="3362267" cy="3139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Your Code</a:t>
              </a:r>
              <a:br>
                <a:rPr lang="en-US" dirty="0"/>
              </a:br>
              <a:r>
                <a:rPr lang="en-US" dirty="0"/>
                <a:t>↓</a:t>
              </a:r>
              <a:br>
                <a:rPr lang="en-US" dirty="0"/>
              </a:br>
              <a:r>
                <a:rPr lang="en-US" dirty="0"/>
                <a:t>Python Interpreter</a:t>
              </a:r>
              <a:br>
                <a:rPr lang="en-US" dirty="0"/>
              </a:br>
              <a:r>
                <a:rPr lang="en-US" dirty="0"/>
                <a:t>↓</a:t>
              </a:r>
              <a:br>
                <a:rPr lang="en-US" dirty="0"/>
              </a:br>
              <a:r>
                <a:rPr lang="en-US" dirty="0"/>
                <a:t>Built-in print() Function</a:t>
              </a:r>
              <a:br>
                <a:rPr lang="en-US" dirty="0"/>
              </a:br>
              <a:r>
                <a:rPr lang="en-US" dirty="0"/>
                <a:t>↓</a:t>
              </a:r>
              <a:br>
                <a:rPr lang="en-US" dirty="0"/>
              </a:br>
              <a:r>
                <a:rPr lang="en-US" dirty="0"/>
                <a:t>stdout (standard output stream)</a:t>
              </a:r>
              <a:br>
                <a:rPr lang="en-US" dirty="0"/>
              </a:br>
              <a:r>
                <a:rPr lang="en-US" dirty="0"/>
                <a:t>↓</a:t>
              </a:r>
              <a:br>
                <a:rPr lang="en-US" dirty="0"/>
              </a:br>
              <a:r>
                <a:rPr lang="en-US" dirty="0"/>
                <a:t>Terminal / Console</a:t>
              </a:r>
              <a:br>
                <a:rPr lang="en-US" dirty="0"/>
              </a:br>
              <a:r>
                <a:rPr lang="en-US" dirty="0"/>
                <a:t>↓</a:t>
              </a:r>
              <a:br>
                <a:rPr lang="en-US" dirty="0"/>
              </a:br>
              <a:r>
                <a:rPr lang="en-US" dirty="0"/>
                <a:t>Screen</a:t>
              </a:r>
            </a:p>
          </p:txBody>
        </p:sp>
        <p:sp>
          <p:nvSpPr>
            <p:cNvPr id="19" name="Octagon 18">
              <a:extLst>
                <a:ext uri="{FF2B5EF4-FFF2-40B4-BE49-F238E27FC236}">
                  <a16:creationId xmlns:a16="http://schemas.microsoft.com/office/drawing/2014/main" id="{1DD6B00E-CE21-71E9-63E9-4C31DE0B022F}"/>
                </a:ext>
              </a:extLst>
            </p:cNvPr>
            <p:cNvSpPr/>
            <p:nvPr/>
          </p:nvSpPr>
          <p:spPr>
            <a:xfrm>
              <a:off x="4414864" y="1859339"/>
              <a:ext cx="3362267" cy="3216812"/>
            </a:xfrm>
            <a:prstGeom prst="octagon">
              <a:avLst>
                <a:gd name="adj" fmla="val 19948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8A8EB17-67AD-4D86-9B5C-CFF08AA6A37B}"/>
              </a:ext>
            </a:extLst>
          </p:cNvPr>
          <p:cNvGrpSpPr/>
          <p:nvPr/>
        </p:nvGrpSpPr>
        <p:grpSpPr>
          <a:xfrm>
            <a:off x="7082836" y="2267753"/>
            <a:ext cx="5143174" cy="2970043"/>
            <a:chOff x="6894646" y="2183115"/>
            <a:chExt cx="5143174" cy="297004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896825D-4A18-4411-10E5-486A796B864D}"/>
                </a:ext>
              </a:extLst>
            </p:cNvPr>
            <p:cNvSpPr txBox="1"/>
            <p:nvPr/>
          </p:nvSpPr>
          <p:spPr>
            <a:xfrm>
              <a:off x="6894646" y="2352391"/>
              <a:ext cx="5143174" cy="280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Evaluate value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Get Python object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Convert object to text representation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Send text to stdout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Terminal displays it</a:t>
              </a:r>
              <a:br>
                <a:rPr lang="en-US" sz="1600" dirty="0"/>
              </a:br>
              <a:r>
                <a:rPr lang="en-US" sz="1600" dirty="0"/>
                <a:t>↓</a:t>
              </a:r>
              <a:br>
                <a:rPr lang="en-US" sz="1600" dirty="0"/>
              </a:br>
              <a:r>
                <a:rPr lang="en-US" sz="1600" dirty="0"/>
                <a:t>Add newline</a:t>
              </a:r>
            </a:p>
          </p:txBody>
        </p:sp>
        <p:sp>
          <p:nvSpPr>
            <p:cNvPr id="30" name="Octagon 29">
              <a:extLst>
                <a:ext uri="{FF2B5EF4-FFF2-40B4-BE49-F238E27FC236}">
                  <a16:creationId xmlns:a16="http://schemas.microsoft.com/office/drawing/2014/main" id="{68B4EBC9-AFEB-D5DB-061C-66364D5314CF}"/>
                </a:ext>
              </a:extLst>
            </p:cNvPr>
            <p:cNvSpPr/>
            <p:nvPr/>
          </p:nvSpPr>
          <p:spPr>
            <a:xfrm>
              <a:off x="7811144" y="2183115"/>
              <a:ext cx="3310179" cy="2970043"/>
            </a:xfrm>
            <a:prstGeom prst="octagon">
              <a:avLst>
                <a:gd name="adj" fmla="val 19948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751C25FB-F35D-3EAB-3842-52A7D036E5AD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666BE3-E187-5CA5-D45D-C9B44E0856B2}"/>
              </a:ext>
            </a:extLst>
          </p:cNvPr>
          <p:cNvSpPr txBox="1"/>
          <p:nvPr/>
        </p:nvSpPr>
        <p:spPr>
          <a:xfrm>
            <a:off x="8920985" y="1905566"/>
            <a:ext cx="146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General Rule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84E569-F6FB-B532-3832-9A7B5B4470FA}"/>
              </a:ext>
            </a:extLst>
          </p:cNvPr>
          <p:cNvSpPr txBox="1"/>
          <p:nvPr/>
        </p:nvSpPr>
        <p:spPr>
          <a:xfrm>
            <a:off x="4608102" y="1257173"/>
            <a:ext cx="633805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print() does not change the data; it simply shows a readable text version of the data on the screen i.e via string.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810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205E8-F946-9DEC-F73A-E835EC52E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15048-708A-AAB0-EF99-4386C4B26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Multiple Arguments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FEC36-8917-C32D-07B8-BA339692520C}"/>
              </a:ext>
            </a:extLst>
          </p:cNvPr>
          <p:cNvSpPr txBox="1"/>
          <p:nvPr/>
        </p:nvSpPr>
        <p:spPr>
          <a:xfrm>
            <a:off x="2854306" y="1359129"/>
            <a:ext cx="648338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We can print multiple argument with one print statement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A442387-04BF-675B-7E60-35BB17576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392" y="2258972"/>
            <a:ext cx="10025216" cy="67307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F4077AB-309E-A6B3-F1CD-8F8D8EEC1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090" y="3414016"/>
            <a:ext cx="8983820" cy="407327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1C5C22F-3F81-A2F8-72F2-9249C8032756}"/>
              </a:ext>
            </a:extLst>
          </p:cNvPr>
          <p:cNvCxnSpPr>
            <a:stCxn id="29" idx="2"/>
            <a:endCxn id="31" idx="0"/>
          </p:cNvCxnSpPr>
          <p:nvPr/>
        </p:nvCxnSpPr>
        <p:spPr>
          <a:xfrm>
            <a:off x="6096000" y="2932044"/>
            <a:ext cx="0" cy="4819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22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B1C3B-1FC5-0F9D-89B2-996081B5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B845-EEC4-5108-C722-B2DFAD460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Point to remember about print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199EE-5AF0-B6CD-F4C0-A9059C222CC9}"/>
              </a:ext>
            </a:extLst>
          </p:cNvPr>
          <p:cNvSpPr txBox="1"/>
          <p:nvPr/>
        </p:nvSpPr>
        <p:spPr>
          <a:xfrm>
            <a:off x="2854306" y="1359129"/>
            <a:ext cx="648338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Python automatically prints another print statement in a new 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7B95DE-6A70-CB5B-23D4-503DE6A5D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285" y="2642355"/>
            <a:ext cx="3236042" cy="7078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ADCD6B-029F-B5EB-4DE9-CDCB36718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846" y="2642355"/>
            <a:ext cx="1887691" cy="7078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AEA7B0-FC33-923E-5A00-38A9FF49F11E}"/>
              </a:ext>
            </a:extLst>
          </p:cNvPr>
          <p:cNvCxnSpPr>
            <a:stCxn id="9" idx="3"/>
            <a:endCxn id="12" idx="1"/>
          </p:cNvCxnSpPr>
          <p:nvPr/>
        </p:nvCxnSpPr>
        <p:spPr>
          <a:xfrm flipV="1">
            <a:off x="4472327" y="2996297"/>
            <a:ext cx="392151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919649A-431A-14C1-682A-056926470F69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4187483" y="733839"/>
            <a:ext cx="575340" cy="324169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C2FC9E5-80B7-61EE-84E8-FEE1D25260A3}"/>
              </a:ext>
            </a:extLst>
          </p:cNvPr>
          <p:cNvSpPr txBox="1"/>
          <p:nvPr/>
        </p:nvSpPr>
        <p:spPr>
          <a:xfrm>
            <a:off x="2854306" y="3925578"/>
            <a:ext cx="6483386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If we want them on the same line?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0A2391-F7B5-8E12-4F82-EC62A32D9805}"/>
              </a:ext>
            </a:extLst>
          </p:cNvPr>
          <p:cNvSpPr txBox="1"/>
          <p:nvPr/>
        </p:nvSpPr>
        <p:spPr>
          <a:xfrm>
            <a:off x="3046708" y="4745898"/>
            <a:ext cx="6098582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/>
              <a:t>Use the </a:t>
            </a:r>
            <a:r>
              <a:rPr lang="en-US" sz="2000" b="1" u="sng" dirty="0">
                <a:latin typeface="Courier New" panose="02070309020205020404" pitchFamily="49" charset="0"/>
              </a:rPr>
              <a:t>end</a:t>
            </a:r>
            <a:r>
              <a:rPr lang="en-US" sz="2000" dirty="0"/>
              <a:t> parameter: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8DDCAD-F39F-3487-2A10-511FC85CBE6E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>
            <a:off x="6095999" y="4325688"/>
            <a:ext cx="0" cy="4202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DAD2A80-214C-9BD2-3C9B-ED2D2B643776}"/>
              </a:ext>
            </a:extLst>
          </p:cNvPr>
          <p:cNvSpPr txBox="1"/>
          <p:nvPr/>
        </p:nvSpPr>
        <p:spPr>
          <a:xfrm>
            <a:off x="1910461" y="5366163"/>
            <a:ext cx="8371076" cy="70788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u="sng" dirty="0"/>
              <a:t>end</a:t>
            </a:r>
            <a:r>
              <a:rPr lang="en-US" sz="2000" dirty="0"/>
              <a:t> controls what gets printed after the output of a </a:t>
            </a:r>
            <a:r>
              <a:rPr lang="en-US" dirty="0"/>
              <a:t>print()</a:t>
            </a:r>
            <a:r>
              <a:rPr lang="en-US" sz="2000" dirty="0"/>
              <a:t> statement.</a:t>
            </a:r>
          </a:p>
          <a:p>
            <a:pPr algn="ctr">
              <a:buNone/>
            </a:pPr>
            <a:r>
              <a:rPr lang="en-US" sz="2000" dirty="0"/>
              <a:t>By default, it is a newline (</a:t>
            </a:r>
            <a:r>
              <a:rPr lang="en-US" dirty="0"/>
              <a:t>\n</a:t>
            </a:r>
            <a:r>
              <a:rPr lang="en-US" sz="2000" dirty="0"/>
              <a:t>).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1AD60F4-BE6A-1208-5799-076A999C9FBE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2936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6561-B148-32D6-1103-8B442671E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39D8-D7E5-6E47-3246-27E270E26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Point to remember about print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0DF48-3AFD-3563-8BD2-2E191E8925E6}"/>
              </a:ext>
            </a:extLst>
          </p:cNvPr>
          <p:cNvSpPr txBox="1"/>
          <p:nvPr/>
        </p:nvSpPr>
        <p:spPr>
          <a:xfrm>
            <a:off x="2854306" y="1359129"/>
            <a:ext cx="648338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Why we don’t require quotes while printing int/float or other data type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22DB026-827D-8037-7CA9-E1273384BD90}"/>
              </a:ext>
            </a:extLst>
          </p:cNvPr>
          <p:cNvCxnSpPr>
            <a:cxnSpLocks/>
            <a:stCxn id="7" idx="2"/>
            <a:endCxn id="24" idx="0"/>
          </p:cNvCxnSpPr>
          <p:nvPr/>
        </p:nvCxnSpPr>
        <p:spPr>
          <a:xfrm rot="5400000">
            <a:off x="5728210" y="2434804"/>
            <a:ext cx="735579" cy="1270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5DDE55-7DF0-294E-F3A2-3A42C2C6712B}"/>
              </a:ext>
            </a:extLst>
          </p:cNvPr>
          <p:cNvSpPr txBox="1"/>
          <p:nvPr/>
        </p:nvSpPr>
        <p:spPr>
          <a:xfrm>
            <a:off x="1910461" y="2802594"/>
            <a:ext cx="8371076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The answer is that </a:t>
            </a:r>
            <a:r>
              <a:rPr lang="en-US" sz="2000" b="1" dirty="0"/>
              <a:t>quotes tell Python that something is text (a string).</a:t>
            </a:r>
            <a:endParaRPr lang="en-US" sz="20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9392B1-2F59-46A0-ED3F-F052EE3BD1E1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1F3DBD-70A4-5358-76C2-33C871188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91" y="3931934"/>
            <a:ext cx="7358220" cy="1891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01D28C-CA12-8DB6-9C70-FD4F6CCAF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692" y="3622913"/>
            <a:ext cx="851788" cy="2640544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D87E6D-FEFB-0750-513F-185C06DC8D09}"/>
              </a:ext>
            </a:extLst>
          </p:cNvPr>
          <p:cNvCxnSpPr>
            <a:stCxn id="10" idx="3"/>
          </p:cNvCxnSpPr>
          <p:nvPr/>
        </p:nvCxnSpPr>
        <p:spPr>
          <a:xfrm>
            <a:off x="7757711" y="4877762"/>
            <a:ext cx="1579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338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D0C15-18A3-6622-F40A-12303B23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AC5B1-BDB4-8123-1FAD-52D152429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Point to remember about print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7AC418-ED49-88FE-F92F-E48CC9D27AAB}"/>
              </a:ext>
            </a:extLst>
          </p:cNvPr>
          <p:cNvSpPr txBox="1"/>
          <p:nvPr/>
        </p:nvSpPr>
        <p:spPr>
          <a:xfrm>
            <a:off x="2854306" y="1359129"/>
            <a:ext cx="648338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Printing Type of a Variable/Constant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CEC56BB-0958-48ED-99EE-C6A152D043B3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1CFF8-1834-5141-055D-1859DA840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86" y="3012223"/>
            <a:ext cx="5546714" cy="2086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7166FD-F56A-C56B-4510-FB1A7BE46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242" y="3033657"/>
            <a:ext cx="3309146" cy="206510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384D9A-CE92-9386-BDBA-87C2A7BCD47E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6127900" y="4055493"/>
            <a:ext cx="1095342" cy="107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028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0633-42AD-65DB-5422-F1B635E9A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A684B-75FD-D481-5F5C-E160F0F7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Possible Error in Print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478A2-7F25-102C-49FE-F643D8115479}"/>
              </a:ext>
            </a:extLst>
          </p:cNvPr>
          <p:cNvSpPr txBox="1"/>
          <p:nvPr/>
        </p:nvSpPr>
        <p:spPr>
          <a:xfrm>
            <a:off x="1095212" y="1090712"/>
            <a:ext cx="10001574" cy="3016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Traceback</a:t>
            </a:r>
            <a:endParaRPr lang="en-US" b="1" u="sng" dirty="0"/>
          </a:p>
          <a:p>
            <a:pPr algn="ctr"/>
            <a:r>
              <a:rPr lang="en-US" dirty="0"/>
              <a:t>When a program contains a significant error, Python displays a </a:t>
            </a:r>
            <a:r>
              <a:rPr lang="en-US" b="1" u="sng" dirty="0"/>
              <a:t>traceback</a:t>
            </a:r>
            <a:r>
              <a:rPr lang="en-US" dirty="0"/>
              <a:t>, which is an error report.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A </a:t>
            </a:r>
            <a:r>
              <a:rPr lang="en-US" sz="2000" b="1" dirty="0"/>
              <a:t>traceback</a:t>
            </a:r>
            <a:r>
              <a:rPr lang="en-US" sz="2000" dirty="0"/>
              <a:t> is Python's report explaining: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Where</a:t>
            </a:r>
            <a:r>
              <a:rPr lang="en-US" sz="2000" dirty="0"/>
              <a:t> an error happened.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What</a:t>
            </a:r>
            <a:r>
              <a:rPr lang="en-US" sz="2000" dirty="0"/>
              <a:t> error happened.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Sometimes </a:t>
            </a:r>
            <a:r>
              <a:rPr lang="en-US" sz="2000" b="1" dirty="0"/>
              <a:t>why</a:t>
            </a:r>
            <a:r>
              <a:rPr lang="en-US" sz="2000" dirty="0"/>
              <a:t> it happened. </a:t>
            </a:r>
          </a:p>
          <a:p>
            <a:endParaRPr lang="en-US" sz="2000" dirty="0"/>
          </a:p>
          <a:p>
            <a:r>
              <a:rPr lang="en-US" sz="2000" dirty="0"/>
              <a:t>Think of it as Python's error investigation report.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FCD4C1-3B4C-5252-8EC7-1A41107CB5FF}"/>
              </a:ext>
            </a:extLst>
          </p:cNvPr>
          <p:cNvSpPr txBox="1"/>
          <p:nvPr/>
        </p:nvSpPr>
        <p:spPr>
          <a:xfrm>
            <a:off x="1558684" y="4449696"/>
            <a:ext cx="907463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Example: </a:t>
            </a:r>
            <a:r>
              <a:rPr lang="en-US" dirty="0"/>
              <a:t>print(10 / 0)</a:t>
            </a:r>
          </a:p>
          <a:p>
            <a:r>
              <a:rPr lang="en-US" dirty="0"/>
              <a:t>Output:</a:t>
            </a:r>
          </a:p>
          <a:p>
            <a:r>
              <a:rPr lang="en-US" dirty="0"/>
              <a:t>Traceback (most recent call last):</a:t>
            </a:r>
            <a:br>
              <a:rPr lang="en-US" dirty="0"/>
            </a:br>
            <a:r>
              <a:rPr lang="en-US" dirty="0"/>
              <a:t>  File "test.py", line 1, in &lt;module&gt;</a:t>
            </a:r>
            <a:br>
              <a:rPr lang="en-US" dirty="0"/>
            </a:br>
            <a:r>
              <a:rPr lang="en-US" dirty="0"/>
              <a:t>    print(10 / 0)</a:t>
            </a:r>
            <a:br>
              <a:rPr lang="en-US" dirty="0"/>
            </a:br>
            <a:r>
              <a:rPr lang="en-US" dirty="0"/>
              <a:t>ZeroDivisionError: division by zero</a:t>
            </a:r>
          </a:p>
          <a:p>
            <a:pPr algn="ctr"/>
            <a:r>
              <a:rPr lang="en-US" dirty="0"/>
              <a:t>This entire message is called the </a:t>
            </a:r>
            <a:r>
              <a:rPr lang="en-US" b="1" dirty="0"/>
              <a:t>traceback</a:t>
            </a:r>
            <a:r>
              <a:rPr lang="en-US" dirty="0"/>
              <a:t>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2B5219-A872-5361-58C0-8B0E43062BFD}"/>
              </a:ext>
            </a:extLst>
          </p:cNvPr>
          <p:cNvSpPr/>
          <p:nvPr/>
        </p:nvSpPr>
        <p:spPr>
          <a:xfrm>
            <a:off x="1558684" y="5022369"/>
            <a:ext cx="3602252" cy="11158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35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9BF9B-101A-87F0-5739-646E4474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72F9-10FE-3ABA-9782-3CFD426EF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Possible Error in Print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8C096EB-A9F5-DCD8-9245-928EC05DE4BF}"/>
              </a:ext>
            </a:extLst>
          </p:cNvPr>
          <p:cNvGrpSpPr/>
          <p:nvPr/>
        </p:nvGrpSpPr>
        <p:grpSpPr>
          <a:xfrm>
            <a:off x="4158302" y="2580895"/>
            <a:ext cx="3875393" cy="747273"/>
            <a:chOff x="3920178" y="3055363"/>
            <a:chExt cx="3875393" cy="74727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98987ED-4414-C7FE-A3F0-7F2AE9384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0178" y="3055363"/>
              <a:ext cx="3875393" cy="74727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3E61525-C7B0-8C3B-1AD2-B66490B1347D}"/>
                </a:ext>
              </a:extLst>
            </p:cNvPr>
            <p:cNvSpPr/>
            <p:nvPr/>
          </p:nvSpPr>
          <p:spPr>
            <a:xfrm>
              <a:off x="3920178" y="3081494"/>
              <a:ext cx="883403" cy="60776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4809816-9B68-556F-96B8-12719DA95472}"/>
              </a:ext>
            </a:extLst>
          </p:cNvPr>
          <p:cNvSpPr txBox="1"/>
          <p:nvPr/>
        </p:nvSpPr>
        <p:spPr>
          <a:xfrm>
            <a:off x="1095212" y="3185319"/>
            <a:ext cx="239020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Wrong print spelling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7E9C1E0-AF22-319D-14F1-A3258FC11BE2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>
            <a:off x="3485418" y="2910907"/>
            <a:ext cx="672884" cy="4744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246834-BD6B-2E9E-F57C-0D0514C48E41}"/>
              </a:ext>
            </a:extLst>
          </p:cNvPr>
          <p:cNvGrpSpPr/>
          <p:nvPr/>
        </p:nvGrpSpPr>
        <p:grpSpPr>
          <a:xfrm>
            <a:off x="564139" y="4019266"/>
            <a:ext cx="11063720" cy="2486446"/>
            <a:chOff x="3836369" y="4409007"/>
            <a:chExt cx="7769743" cy="174616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111E9F1-474F-7F6E-2807-F1D6669F7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36369" y="4409007"/>
              <a:ext cx="7769743" cy="1746161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32CAA89-DD28-D4FE-2197-A676C17E3D5D}"/>
                </a:ext>
              </a:extLst>
            </p:cNvPr>
            <p:cNvCxnSpPr>
              <a:cxnSpLocks/>
            </p:cNvCxnSpPr>
            <p:nvPr/>
          </p:nvCxnSpPr>
          <p:spPr>
            <a:xfrm>
              <a:off x="9848850" y="5096844"/>
              <a:ext cx="590550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3510151-C53E-1845-5B20-A0A50D17C192}"/>
                </a:ext>
              </a:extLst>
            </p:cNvPr>
            <p:cNvCxnSpPr>
              <a:cxnSpLocks/>
            </p:cNvCxnSpPr>
            <p:nvPr/>
          </p:nvCxnSpPr>
          <p:spPr>
            <a:xfrm>
              <a:off x="4210050" y="5301137"/>
              <a:ext cx="1647825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211AE6F-D124-94C3-8593-C3FE5CF5CB38}"/>
                </a:ext>
              </a:extLst>
            </p:cNvPr>
            <p:cNvCxnSpPr>
              <a:cxnSpLocks/>
            </p:cNvCxnSpPr>
            <p:nvPr/>
          </p:nvCxnSpPr>
          <p:spPr>
            <a:xfrm>
              <a:off x="3884018" y="5682137"/>
              <a:ext cx="315515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C4E7313-1688-CC6A-823D-4C299624AA24}"/>
              </a:ext>
            </a:extLst>
          </p:cNvPr>
          <p:cNvSpPr txBox="1"/>
          <p:nvPr/>
        </p:nvSpPr>
        <p:spPr>
          <a:xfrm>
            <a:off x="5124772" y="1576707"/>
            <a:ext cx="194245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NameError</a:t>
            </a:r>
            <a:endParaRPr lang="en-US" sz="20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0842DD4-EF77-2416-2726-0BDEE001794E}"/>
              </a:ext>
            </a:extLst>
          </p:cNvPr>
          <p:cNvCxnSpPr>
            <a:cxnSpLocks/>
            <a:stCxn id="36" idx="2"/>
            <a:endCxn id="11" idx="0"/>
          </p:cNvCxnSpPr>
          <p:nvPr/>
        </p:nvCxnSpPr>
        <p:spPr>
          <a:xfrm flipH="1">
            <a:off x="6095999" y="2038372"/>
            <a:ext cx="1" cy="542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B8ED06FF-EC1A-F7B2-0ADF-E5FA54099E7E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59121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9204-628E-28D7-419B-CE5B6C8A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58EB17C-F65B-B4AA-547D-298C20ED4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326" y="2169278"/>
            <a:ext cx="5951345" cy="752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1CEE26-D53C-5433-7887-667FC29B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Possible Error in Print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72F8E5-86C0-EB74-7AFA-309E44EC854E}"/>
              </a:ext>
            </a:extLst>
          </p:cNvPr>
          <p:cNvSpPr txBox="1"/>
          <p:nvPr/>
        </p:nvSpPr>
        <p:spPr>
          <a:xfrm>
            <a:off x="1265745" y="2921492"/>
            <a:ext cx="205120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No bracket Open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066E834-1024-1508-E561-F2F89DAC0F4C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316949" y="2838734"/>
            <a:ext cx="1162061" cy="2828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185C57C-62F7-8EBE-B0D6-8F56B037BC09}"/>
              </a:ext>
            </a:extLst>
          </p:cNvPr>
          <p:cNvSpPr txBox="1"/>
          <p:nvPr/>
        </p:nvSpPr>
        <p:spPr>
          <a:xfrm>
            <a:off x="5124772" y="1393563"/>
            <a:ext cx="194245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Syntax Error</a:t>
            </a:r>
            <a:endParaRPr lang="en-US" sz="20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0D84A63-CEAA-19D4-FAE7-D06CCFE94795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 flipH="1">
            <a:off x="6095999" y="1855228"/>
            <a:ext cx="1" cy="314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3DAF6F5-18C1-197E-6B3D-C2BD8880A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47" y="3873761"/>
            <a:ext cx="10279501" cy="228433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D2BDD1-379A-0430-217F-A530DCC20996}"/>
              </a:ext>
            </a:extLst>
          </p:cNvPr>
          <p:cNvCxnSpPr>
            <a:cxnSpLocks/>
          </p:cNvCxnSpPr>
          <p:nvPr/>
        </p:nvCxnSpPr>
        <p:spPr>
          <a:xfrm>
            <a:off x="1047750" y="5460179"/>
            <a:ext cx="31468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42352A-839B-F1BE-5E20-D2C01A144E89}"/>
              </a:ext>
            </a:extLst>
          </p:cNvPr>
          <p:cNvCxnSpPr>
            <a:cxnSpLocks/>
          </p:cNvCxnSpPr>
          <p:nvPr/>
        </p:nvCxnSpPr>
        <p:spPr>
          <a:xfrm>
            <a:off x="9742785" y="4531987"/>
            <a:ext cx="84091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E3F606-12CD-5398-EBB6-D5C10BFB2F59}"/>
              </a:ext>
            </a:extLst>
          </p:cNvPr>
          <p:cNvCxnSpPr>
            <a:cxnSpLocks/>
          </p:cNvCxnSpPr>
          <p:nvPr/>
        </p:nvCxnSpPr>
        <p:spPr>
          <a:xfrm>
            <a:off x="1513395" y="4841940"/>
            <a:ext cx="2410905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5B0B2E11-1028-2560-B2E3-D53F2D26557D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70396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4F7F4-0803-4B2C-CB12-3E4F5C323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D29A95-7C23-CEC8-5C8B-2B6F11772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86" y="4099843"/>
            <a:ext cx="10669400" cy="23305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C77078-7B9B-911E-95E8-9B7DEBF7F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382" y="2183746"/>
            <a:ext cx="4735229" cy="6591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33194F-DCE7-0A7C-EA27-2E2951BE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Possible Error in Print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BA188D-A086-6B87-35C0-4EAE9EA8D3D1}"/>
              </a:ext>
            </a:extLst>
          </p:cNvPr>
          <p:cNvSpPr txBox="1"/>
          <p:nvPr/>
        </p:nvSpPr>
        <p:spPr>
          <a:xfrm>
            <a:off x="1246510" y="2921492"/>
            <a:ext cx="208967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No bracket Close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AFE46FD-ECA5-CA4B-2B33-489F1A0D596B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336186" y="2735905"/>
            <a:ext cx="4922443" cy="3856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7F02C24-F6E7-B18A-7DA2-440398581BE3}"/>
              </a:ext>
            </a:extLst>
          </p:cNvPr>
          <p:cNvSpPr txBox="1"/>
          <p:nvPr/>
        </p:nvSpPr>
        <p:spPr>
          <a:xfrm>
            <a:off x="5124772" y="1393563"/>
            <a:ext cx="194245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Syntax Error</a:t>
            </a:r>
            <a:endParaRPr lang="en-US" sz="20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4FC3A9A-E474-8B81-5B8E-5CAC032D25F4}"/>
              </a:ext>
            </a:extLst>
          </p:cNvPr>
          <p:cNvCxnSpPr>
            <a:cxnSpLocks/>
            <a:stCxn id="36" idx="2"/>
            <a:endCxn id="4" idx="0"/>
          </p:cNvCxnSpPr>
          <p:nvPr/>
        </p:nvCxnSpPr>
        <p:spPr>
          <a:xfrm flipH="1">
            <a:off x="6095997" y="1855228"/>
            <a:ext cx="3" cy="328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ABE680-956D-0F6E-9675-F6E771BE2F94}"/>
              </a:ext>
            </a:extLst>
          </p:cNvPr>
          <p:cNvCxnSpPr>
            <a:cxnSpLocks/>
          </p:cNvCxnSpPr>
          <p:nvPr/>
        </p:nvCxnSpPr>
        <p:spPr>
          <a:xfrm>
            <a:off x="610214" y="5750464"/>
            <a:ext cx="4281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572B28-73BC-6047-6F0E-259EF507ABC9}"/>
              </a:ext>
            </a:extLst>
          </p:cNvPr>
          <p:cNvCxnSpPr>
            <a:cxnSpLocks/>
          </p:cNvCxnSpPr>
          <p:nvPr/>
        </p:nvCxnSpPr>
        <p:spPr>
          <a:xfrm>
            <a:off x="9742785" y="4778730"/>
            <a:ext cx="84091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656E17-50E2-188F-405A-A8F69CEDE2CD}"/>
              </a:ext>
            </a:extLst>
          </p:cNvPr>
          <p:cNvCxnSpPr>
            <a:cxnSpLocks/>
          </p:cNvCxnSpPr>
          <p:nvPr/>
        </p:nvCxnSpPr>
        <p:spPr>
          <a:xfrm>
            <a:off x="1143952" y="5076415"/>
            <a:ext cx="2410905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E0CAFDD-8AC4-1BBC-06DA-6D0F2FBF052A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24047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3695C-E62B-268C-2658-B27466127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A60B1D4-E352-4A7C-06B7-CC5732D47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47" y="3778141"/>
            <a:ext cx="11254365" cy="24365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9AD9DC-5CBC-86FD-BAE7-075177547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285" y="2160327"/>
            <a:ext cx="3767423" cy="5755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1706CE-538D-322A-85E9-7A25EC91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Possible Error in Print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C0C75B-31A1-C9ED-3491-158EFD039ECB}"/>
              </a:ext>
            </a:extLst>
          </p:cNvPr>
          <p:cNvSpPr txBox="1"/>
          <p:nvPr/>
        </p:nvSpPr>
        <p:spPr>
          <a:xfrm>
            <a:off x="1317653" y="2921492"/>
            <a:ext cx="194739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No entry quotes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20AC509-20CE-AFA7-E9B9-88B4DA853C1D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265046" y="2529276"/>
            <a:ext cx="2119754" cy="592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2B2D239-CE89-DD78-B2BB-CC828F6E409C}"/>
              </a:ext>
            </a:extLst>
          </p:cNvPr>
          <p:cNvSpPr txBox="1"/>
          <p:nvPr/>
        </p:nvSpPr>
        <p:spPr>
          <a:xfrm>
            <a:off x="5124772" y="1393563"/>
            <a:ext cx="194245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Syntax Error</a:t>
            </a:r>
            <a:endParaRPr lang="en-US" sz="20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DBE72B9-6433-372E-FD30-54C17DA1FA22}"/>
              </a:ext>
            </a:extLst>
          </p:cNvPr>
          <p:cNvCxnSpPr>
            <a:cxnSpLocks/>
            <a:stCxn id="36" idx="2"/>
            <a:endCxn id="5" idx="0"/>
          </p:cNvCxnSpPr>
          <p:nvPr/>
        </p:nvCxnSpPr>
        <p:spPr>
          <a:xfrm flipH="1">
            <a:off x="6095997" y="1855228"/>
            <a:ext cx="3" cy="305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572869-F6B0-41ED-B668-2491BCA22D16}"/>
              </a:ext>
            </a:extLst>
          </p:cNvPr>
          <p:cNvCxnSpPr>
            <a:cxnSpLocks/>
          </p:cNvCxnSpPr>
          <p:nvPr/>
        </p:nvCxnSpPr>
        <p:spPr>
          <a:xfrm>
            <a:off x="461247" y="5499004"/>
            <a:ext cx="823825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C7EB35-8735-B863-B0EB-93FEE23FC2AD}"/>
              </a:ext>
            </a:extLst>
          </p:cNvPr>
          <p:cNvCxnSpPr>
            <a:cxnSpLocks/>
          </p:cNvCxnSpPr>
          <p:nvPr/>
        </p:nvCxnSpPr>
        <p:spPr>
          <a:xfrm>
            <a:off x="10120157" y="4473930"/>
            <a:ext cx="84091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9830CC7-CCB6-C316-25C7-0B19D81325FE}"/>
              </a:ext>
            </a:extLst>
          </p:cNvPr>
          <p:cNvCxnSpPr>
            <a:cxnSpLocks/>
          </p:cNvCxnSpPr>
          <p:nvPr/>
        </p:nvCxnSpPr>
        <p:spPr>
          <a:xfrm>
            <a:off x="1019221" y="4789838"/>
            <a:ext cx="264314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24D9D16-D76C-8449-D9B7-7818C4F92838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22116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74570-DE5B-6630-1DD5-DCF8B98B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EA5845-989C-EBFE-5C6C-205C633D7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88" y="3824634"/>
            <a:ext cx="11139466" cy="23126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5394D6-FFBD-0E26-E7AC-0BDD3B199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2364" y="2229115"/>
            <a:ext cx="4152129" cy="5190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03F681-4618-2004-8ADE-C3B3429E6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Possible Error in Print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9293B-9743-5AB4-0DFD-9A3489C5FB5B}"/>
              </a:ext>
            </a:extLst>
          </p:cNvPr>
          <p:cNvSpPr txBox="1"/>
          <p:nvPr/>
        </p:nvSpPr>
        <p:spPr>
          <a:xfrm>
            <a:off x="1390141" y="2921492"/>
            <a:ext cx="180241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No end quotes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8A51136-F0F5-B985-031C-35B6FE6D0D36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192557" y="2621574"/>
            <a:ext cx="4634087" cy="4999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07F05A5-27D1-0275-5CAE-3FF3FCD7EEFE}"/>
              </a:ext>
            </a:extLst>
          </p:cNvPr>
          <p:cNvSpPr txBox="1"/>
          <p:nvPr/>
        </p:nvSpPr>
        <p:spPr>
          <a:xfrm>
            <a:off x="5124772" y="1393563"/>
            <a:ext cx="194245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Syntax Error</a:t>
            </a:r>
            <a:endParaRPr lang="en-US" sz="20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AA49A77-3639-5236-020B-06E4326D3BF3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6095997" y="1855228"/>
            <a:ext cx="3" cy="305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1C9234-9114-85FF-9A7A-C343917BEC71}"/>
              </a:ext>
            </a:extLst>
          </p:cNvPr>
          <p:cNvCxnSpPr>
            <a:cxnSpLocks/>
          </p:cNvCxnSpPr>
          <p:nvPr/>
        </p:nvCxnSpPr>
        <p:spPr>
          <a:xfrm>
            <a:off x="461247" y="5499004"/>
            <a:ext cx="823825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CDD183-AA1D-771B-EAD2-00D6A6B21316}"/>
              </a:ext>
            </a:extLst>
          </p:cNvPr>
          <p:cNvCxnSpPr>
            <a:cxnSpLocks/>
          </p:cNvCxnSpPr>
          <p:nvPr/>
        </p:nvCxnSpPr>
        <p:spPr>
          <a:xfrm>
            <a:off x="10120157" y="4473930"/>
            <a:ext cx="84091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403E97-580D-9EE0-1D5B-22BB2D11B9D7}"/>
              </a:ext>
            </a:extLst>
          </p:cNvPr>
          <p:cNvCxnSpPr>
            <a:cxnSpLocks/>
          </p:cNvCxnSpPr>
          <p:nvPr/>
        </p:nvCxnSpPr>
        <p:spPr>
          <a:xfrm>
            <a:off x="1019221" y="4789838"/>
            <a:ext cx="264314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DE08F04A-CED3-2A17-9BC6-0630F25535F8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86818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EFDF-B848-B42F-7C7A-9E6D5A3D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0F88C5-97E1-1103-AC73-C68C22081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701" y="2176618"/>
            <a:ext cx="3832591" cy="5589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E3CA5E-EFC0-6D6E-51A2-F0D89BA6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Possible Error in Print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FD017C-7802-E364-500D-08E42075A1E0}"/>
              </a:ext>
            </a:extLst>
          </p:cNvPr>
          <p:cNvSpPr txBox="1"/>
          <p:nvPr/>
        </p:nvSpPr>
        <p:spPr>
          <a:xfrm>
            <a:off x="5526932" y="3922408"/>
            <a:ext cx="113813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NO error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EF7CF88-55C8-7BB9-0806-DCAF9E510547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6095997" y="2735538"/>
            <a:ext cx="1" cy="1186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5829BDF-67FB-FB3A-2598-4E8078546259}"/>
              </a:ext>
            </a:extLst>
          </p:cNvPr>
          <p:cNvSpPr txBox="1"/>
          <p:nvPr/>
        </p:nvSpPr>
        <p:spPr>
          <a:xfrm>
            <a:off x="4027507" y="1393563"/>
            <a:ext cx="413698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Grammatical Error</a:t>
            </a:r>
            <a:endParaRPr lang="en-US" sz="20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7D18F96-1925-5CC1-6677-217A6EE8BEF2}"/>
              </a:ext>
            </a:extLst>
          </p:cNvPr>
          <p:cNvCxnSpPr>
            <a:cxnSpLocks/>
            <a:stCxn id="36" idx="2"/>
            <a:endCxn id="6" idx="0"/>
          </p:cNvCxnSpPr>
          <p:nvPr/>
        </p:nvCxnSpPr>
        <p:spPr>
          <a:xfrm flipH="1">
            <a:off x="6095997" y="1855228"/>
            <a:ext cx="3" cy="321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2C4858E3-3CF1-FAF9-5221-D737B72B0B92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91227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83DCA-F300-0862-5737-460C98EB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6203-2E5A-E3DC-EAFB-4F8383067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7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Possible Error in Print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5624C-F2B7-C766-2DEC-E8CAE46C1191}"/>
              </a:ext>
            </a:extLst>
          </p:cNvPr>
          <p:cNvSpPr txBox="1"/>
          <p:nvPr/>
        </p:nvSpPr>
        <p:spPr>
          <a:xfrm>
            <a:off x="2348304" y="3228945"/>
            <a:ext cx="749538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Here ‘Hello’ is treated as variable and hello is not defined in the file.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849553E-2837-AE8F-AA4D-7104A8E9BC29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6095997" y="2748032"/>
            <a:ext cx="0" cy="480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13EA3A1-E07C-791D-46CC-AA6AF4800181}"/>
              </a:ext>
            </a:extLst>
          </p:cNvPr>
          <p:cNvSpPr txBox="1"/>
          <p:nvPr/>
        </p:nvSpPr>
        <p:spPr>
          <a:xfrm>
            <a:off x="3140990" y="1393563"/>
            <a:ext cx="591002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NameError : name “Hello” is not defined</a:t>
            </a:r>
            <a:endParaRPr lang="en-US" sz="20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88A0021-E4E1-2052-2A60-18776D5AEB04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6095997" y="1855228"/>
            <a:ext cx="3" cy="321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52E69FD-C1C8-3078-EBAD-3C417BC20F6D}"/>
              </a:ext>
            </a:extLst>
          </p:cNvPr>
          <p:cNvSpPr/>
          <p:nvPr/>
        </p:nvSpPr>
        <p:spPr>
          <a:xfrm>
            <a:off x="217796" y="299391"/>
            <a:ext cx="363390" cy="3633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424F5E-79F3-1C9E-4B82-ECBE341FD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60" y="2145071"/>
            <a:ext cx="2805073" cy="6029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53FCC8-F2D3-EFA6-0373-4C39F544B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70" y="3998004"/>
            <a:ext cx="10573052" cy="242638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96ECE0-A553-A562-4FB0-A50ED96E69D4}"/>
              </a:ext>
            </a:extLst>
          </p:cNvPr>
          <p:cNvCxnSpPr>
            <a:cxnSpLocks/>
          </p:cNvCxnSpPr>
          <p:nvPr/>
        </p:nvCxnSpPr>
        <p:spPr>
          <a:xfrm>
            <a:off x="838199" y="5870963"/>
            <a:ext cx="44157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E7856D-8770-54DD-3E44-6BE52928DD4B}"/>
              </a:ext>
            </a:extLst>
          </p:cNvPr>
          <p:cNvCxnSpPr>
            <a:cxnSpLocks/>
          </p:cNvCxnSpPr>
          <p:nvPr/>
        </p:nvCxnSpPr>
        <p:spPr>
          <a:xfrm>
            <a:off x="9002777" y="5047367"/>
            <a:ext cx="84091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D40624-62D6-03BD-6C7E-30841DA9AD08}"/>
              </a:ext>
            </a:extLst>
          </p:cNvPr>
          <p:cNvCxnSpPr>
            <a:cxnSpLocks/>
          </p:cNvCxnSpPr>
          <p:nvPr/>
        </p:nvCxnSpPr>
        <p:spPr>
          <a:xfrm>
            <a:off x="1201153" y="5347777"/>
            <a:ext cx="1433559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951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51257-0FC0-D596-26B8-A3BAA201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1CAF-EE95-731B-CEA5-8A359BE91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Comments</a:t>
            </a:r>
          </a:p>
        </p:txBody>
      </p:sp>
    </p:spTree>
    <p:extLst>
      <p:ext uri="{BB962C8B-B14F-4D97-AF65-F5344CB8AC3E}">
        <p14:creationId xmlns:p14="http://schemas.microsoft.com/office/powerpoint/2010/main" val="4092828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24A4-55DE-C29B-E24B-33C123B9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A8E3B-CE69-67C4-63CF-33CD9583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0DA14-737A-F174-F675-574AEEDB8F46}"/>
              </a:ext>
            </a:extLst>
          </p:cNvPr>
          <p:cNvSpPr txBox="1"/>
          <p:nvPr/>
        </p:nvSpPr>
        <p:spPr>
          <a:xfrm>
            <a:off x="1947620" y="1393563"/>
            <a:ext cx="829676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Comments are notes written for humans.</a:t>
            </a:r>
          </a:p>
          <a:p>
            <a:pPr algn="ctr"/>
            <a:r>
              <a:rPr lang="en-US" sz="2400" dirty="0"/>
              <a:t>Python ignores them when running a program(execution).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8D0F1F-F071-E74B-E0D2-D0C7DCF0E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20" y="2486906"/>
            <a:ext cx="4060007" cy="8309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73FB38-902C-D311-0594-A75746F12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936" y="2598003"/>
            <a:ext cx="2773444" cy="60880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DF9E83-D681-5D8C-BFFD-7B66B1761A96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6007627" y="2902405"/>
            <a:ext cx="146330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C0AAEF-6BC0-C7B5-1FB5-BA434A4CCB86}"/>
              </a:ext>
            </a:extLst>
          </p:cNvPr>
          <p:cNvSpPr txBox="1"/>
          <p:nvPr/>
        </p:nvSpPr>
        <p:spPr>
          <a:xfrm>
            <a:off x="4065996" y="4448774"/>
            <a:ext cx="406000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Single line comment - #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Eg: print(“Hello”)   #Display Hello</a:t>
            </a:r>
          </a:p>
        </p:txBody>
      </p:sp>
    </p:spTree>
    <p:extLst>
      <p:ext uri="{BB962C8B-B14F-4D97-AF65-F5344CB8AC3E}">
        <p14:creationId xmlns:p14="http://schemas.microsoft.com/office/powerpoint/2010/main" val="4136243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7973E-AC0B-6887-35B0-0C0AED57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B43CDF6-8C17-CF38-7C31-F4BD74A86FC4}"/>
              </a:ext>
            </a:extLst>
          </p:cNvPr>
          <p:cNvSpPr txBox="1"/>
          <p:nvPr/>
        </p:nvSpPr>
        <p:spPr>
          <a:xfrm>
            <a:off x="2295041" y="2616630"/>
            <a:ext cx="215315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"""</a:t>
            </a:r>
            <a:br>
              <a:rPr lang="en-US" dirty="0"/>
            </a:br>
            <a:r>
              <a:rPr lang="en-US" dirty="0"/>
              <a:t>This is a</a:t>
            </a:r>
            <a:br>
              <a:rPr lang="en-US" dirty="0"/>
            </a:br>
            <a:r>
              <a:rPr lang="en-US" dirty="0"/>
              <a:t>multi-line comment</a:t>
            </a:r>
            <a:br>
              <a:rPr lang="en-US" dirty="0"/>
            </a:br>
            <a:r>
              <a:rPr lang="en-US" dirty="0"/>
              <a:t>"""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26B1E-08E1-BC0C-C0F3-F827EA60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Multi line Comment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2C8681-B575-4EFF-47B7-D73D287067BD}"/>
              </a:ext>
            </a:extLst>
          </p:cNvPr>
          <p:cNvSpPr txBox="1"/>
          <p:nvPr/>
        </p:nvSpPr>
        <p:spPr>
          <a:xfrm>
            <a:off x="273803" y="1310452"/>
            <a:ext cx="11644394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3 Single Quotes‘’’’’’; 3Double Quotes“”””””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Technically, Python </a:t>
            </a:r>
            <a:r>
              <a:rPr lang="en-US" sz="2000" b="1" dirty="0"/>
              <a:t>does not have a true multi-line comment syntax</a:t>
            </a:r>
            <a:r>
              <a:rPr lang="en-US" sz="2000" dirty="0"/>
              <a:t> like C or Java.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                                                                                                           or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These are actually </a:t>
            </a:r>
            <a:r>
              <a:rPr lang="en-US" sz="2000" b="1" dirty="0"/>
              <a:t>multi-line strings</a:t>
            </a:r>
            <a:r>
              <a:rPr lang="en-US" sz="2000" dirty="0"/>
              <a:t>, not comments.</a:t>
            </a:r>
          </a:p>
          <a:p>
            <a:pPr algn="ctr"/>
            <a:r>
              <a:rPr lang="en-US" sz="2000" dirty="0"/>
              <a:t>Python creates a string object and then immediately discards it because it's not assigned to a variable.</a:t>
            </a:r>
          </a:p>
          <a:p>
            <a:pPr algn="ctr"/>
            <a:r>
              <a:rPr lang="en-US" sz="2000" dirty="0"/>
              <a:t>So, it behaves </a:t>
            </a:r>
            <a:r>
              <a:rPr lang="en-US" sz="2000" i="1" dirty="0"/>
              <a:t>like</a:t>
            </a:r>
            <a:r>
              <a:rPr lang="en-US" sz="2000" dirty="0"/>
              <a:t> a comment, but it isn't one.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dirty="0"/>
              <a:t>Special Use: Docstrings</a:t>
            </a:r>
          </a:p>
          <a:p>
            <a:pPr algn="ctr"/>
            <a:r>
              <a:rPr lang="en-US" sz="2000" dirty="0"/>
              <a:t>Later in the book (Functions and Classes), you'll see:</a:t>
            </a:r>
          </a:p>
          <a:p>
            <a:pPr algn="ctr"/>
            <a:r>
              <a:rPr lang="en-US" sz="2000" dirty="0"/>
              <a:t>Here the triple quotes are called a </a:t>
            </a:r>
            <a:r>
              <a:rPr lang="en-US" sz="2000" b="1" dirty="0"/>
              <a:t>docstring</a:t>
            </a:r>
            <a:r>
              <a:rPr lang="en-US" sz="2000" dirty="0"/>
              <a:t>, which documents the function.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10FAB7-594E-9E60-C258-EAC48CADA431}"/>
              </a:ext>
            </a:extLst>
          </p:cNvPr>
          <p:cNvSpPr txBox="1"/>
          <p:nvPr/>
        </p:nvSpPr>
        <p:spPr>
          <a:xfrm>
            <a:off x="7743806" y="2616631"/>
            <a:ext cx="215315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'''</a:t>
            </a:r>
            <a:br>
              <a:rPr lang="en-US" dirty="0"/>
            </a:br>
            <a:r>
              <a:rPr lang="en-US" dirty="0"/>
              <a:t>This is a</a:t>
            </a:r>
            <a:br>
              <a:rPr lang="en-US" dirty="0"/>
            </a:br>
            <a:r>
              <a:rPr lang="en-US" dirty="0"/>
              <a:t>multi-line comment</a:t>
            </a:r>
            <a:br>
              <a:rPr lang="en-US" dirty="0"/>
            </a:br>
            <a:r>
              <a:rPr lang="en-US" dirty="0"/>
              <a:t>'''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47B1F5-2BDA-4AB3-2E22-47228C27E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75" y="5127411"/>
            <a:ext cx="2586492" cy="725185"/>
          </a:xfrm>
          <a:prstGeom prst="rect">
            <a:avLst/>
          </a:prstGeom>
        </p:spPr>
      </p:pic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7EDF86EE-9026-14EB-B408-267F3791A278}"/>
              </a:ext>
            </a:extLst>
          </p:cNvPr>
          <p:cNvCxnSpPr/>
          <p:nvPr/>
        </p:nvCxnSpPr>
        <p:spPr>
          <a:xfrm>
            <a:off x="3115159" y="5486400"/>
            <a:ext cx="1472339" cy="1270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483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834</TotalTime>
  <Words>1999</Words>
  <Application>Microsoft Office PowerPoint</Application>
  <PresentationFormat>Widescreen</PresentationFormat>
  <Paragraphs>403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Courier New</vt:lpstr>
      <vt:lpstr>Office Theme</vt:lpstr>
      <vt:lpstr>Day - 1</vt:lpstr>
      <vt:lpstr>Coding n Programming</vt:lpstr>
      <vt:lpstr>IDE</vt:lpstr>
      <vt:lpstr>Text Editor</vt:lpstr>
      <vt:lpstr>Path</vt:lpstr>
      <vt:lpstr>Path</vt:lpstr>
      <vt:lpstr>Terminal</vt:lpstr>
      <vt:lpstr>Common Terminal Commands Windows</vt:lpstr>
      <vt:lpstr>Some Python Terminal Command</vt:lpstr>
      <vt:lpstr>Python Prompt n Python File</vt:lpstr>
      <vt:lpstr>Argument</vt:lpstr>
      <vt:lpstr>Statement</vt:lpstr>
      <vt:lpstr>Expression</vt:lpstr>
      <vt:lpstr>Print Function</vt:lpstr>
      <vt:lpstr>Hello World</vt:lpstr>
      <vt:lpstr>Flow of print</vt:lpstr>
      <vt:lpstr>Flow of print</vt:lpstr>
      <vt:lpstr>Multiple Arguments</vt:lpstr>
      <vt:lpstr>Point to remember about print</vt:lpstr>
      <vt:lpstr>Point to remember about print</vt:lpstr>
      <vt:lpstr>Point to remember about print</vt:lpstr>
      <vt:lpstr>Possible Error in Print</vt:lpstr>
      <vt:lpstr>Possible Error in Print</vt:lpstr>
      <vt:lpstr>Possible Error in Print</vt:lpstr>
      <vt:lpstr>Possible Error in Print</vt:lpstr>
      <vt:lpstr>Possible Error in Print</vt:lpstr>
      <vt:lpstr>Possible Error in Print</vt:lpstr>
      <vt:lpstr>Possible Error in Print</vt:lpstr>
      <vt:lpstr>Possible Error in Print</vt:lpstr>
      <vt:lpstr>Comments</vt:lpstr>
      <vt:lpstr>Comments</vt:lpstr>
      <vt:lpstr>Multi line Comment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Ujjwal Verma</dc:creator>
  <cp:lastModifiedBy>Ujjwal Verma</cp:lastModifiedBy>
  <cp:revision>119</cp:revision>
  <dcterms:created xsi:type="dcterms:W3CDTF">2026-06-01T16:01:56Z</dcterms:created>
  <dcterms:modified xsi:type="dcterms:W3CDTF">2026-06-13T19:33:35Z</dcterms:modified>
</cp:coreProperties>
</file>