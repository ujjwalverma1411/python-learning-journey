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777-80AC-4DAE-A592-4DFDCED7122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5373-EBB4-4893-8D34-4868742D5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98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777-80AC-4DAE-A592-4DFDCED7122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5373-EBB4-4893-8D34-4868742D5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86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777-80AC-4DAE-A592-4DFDCED7122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5373-EBB4-4893-8D34-4868742D5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66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777-80AC-4DAE-A592-4DFDCED7122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5373-EBB4-4893-8D34-4868742D5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027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777-80AC-4DAE-A592-4DFDCED7122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5373-EBB4-4893-8D34-4868742D5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546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777-80AC-4DAE-A592-4DFDCED7122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5373-EBB4-4893-8D34-4868742D5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202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777-80AC-4DAE-A592-4DFDCED7122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5373-EBB4-4893-8D34-4868742D5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5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777-80AC-4DAE-A592-4DFDCED7122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5373-EBB4-4893-8D34-4868742D5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44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777-80AC-4DAE-A592-4DFDCED7122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5373-EBB4-4893-8D34-4868742D5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103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777-80AC-4DAE-A592-4DFDCED7122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5373-EBB4-4893-8D34-4868742D5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475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777-80AC-4DAE-A592-4DFDCED7122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5373-EBB4-4893-8D34-4868742D5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70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C04C777-80AC-4DAE-A592-4DFDCED7122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FBF5373-EBB4-4893-8D34-4868742D5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921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jjwalVerma1411/python-learning-journey/tree/main/Week1/Day1" TargetMode="External"/><Relationship Id="rId2" Type="http://schemas.openxmlformats.org/officeDocument/2006/relationships/hyperlink" Target="http://www.linkedin.com/in/ujjwalverma1411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8A75C-605D-7B4E-E5DF-1309331F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635036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Execution of Any Python Program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1B0A3-211D-4C58-3F33-0C32E492549F}"/>
              </a:ext>
            </a:extLst>
          </p:cNvPr>
          <p:cNvSpPr txBox="1"/>
          <p:nvPr/>
        </p:nvSpPr>
        <p:spPr>
          <a:xfrm>
            <a:off x="1736377" y="4299634"/>
            <a:ext cx="87192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By: Ujjwal Verma</a:t>
            </a:r>
          </a:p>
          <a:p>
            <a:pPr algn="ctr"/>
            <a:r>
              <a:rPr lang="en-US" dirty="0">
                <a:hlinkClick r:id="rId2"/>
              </a:rPr>
              <a:t>www.linkedin.com/in/ujjwalverma1411</a:t>
            </a:r>
            <a:endParaRPr lang="en-US" dirty="0"/>
          </a:p>
          <a:p>
            <a:pPr algn="ctr"/>
            <a:r>
              <a:rPr lang="en-US" dirty="0">
                <a:hlinkClick r:id="rId3"/>
              </a:rPr>
              <a:t>https://github.com/UjjwalVerma1411/python-learning-journey/tree/main/Week1/Day1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234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2A771-4261-1FC2-2AD3-67F1B09C9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7BBD3-FB60-160D-F632-245A41EF21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8971"/>
            <a:ext cx="9144000" cy="116237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Execution of Any Python Program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CAEC9E-ADBF-B0E1-32B4-E381D9D29C72}"/>
              </a:ext>
            </a:extLst>
          </p:cNvPr>
          <p:cNvSpPr txBox="1"/>
          <p:nvPr/>
        </p:nvSpPr>
        <p:spPr>
          <a:xfrm>
            <a:off x="278970" y="2151727"/>
            <a:ext cx="3068664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Suppose you write:</a:t>
            </a:r>
          </a:p>
          <a:p>
            <a:pPr algn="ctr"/>
            <a:r>
              <a:rPr lang="en-US" sz="2000"/>
              <a:t>print("Hello")</a:t>
            </a:r>
          </a:p>
          <a:p>
            <a:pPr algn="ctr"/>
            <a:endParaRPr lang="en-US" sz="2000"/>
          </a:p>
          <a:p>
            <a:pPr algn="ctr"/>
            <a:r>
              <a:rPr lang="en-US" sz="2000"/>
              <a:t>and save it as:</a:t>
            </a:r>
          </a:p>
          <a:p>
            <a:pPr algn="ctr"/>
            <a:r>
              <a:rPr lang="en-US" sz="2000"/>
              <a:t>hello.py</a:t>
            </a:r>
          </a:p>
          <a:p>
            <a:pPr algn="ctr"/>
            <a:endParaRPr lang="en-US" sz="2000"/>
          </a:p>
          <a:p>
            <a:pPr algn="ctr"/>
            <a:r>
              <a:rPr lang="en-US" sz="2000"/>
              <a:t>Then run:</a:t>
            </a:r>
          </a:p>
          <a:p>
            <a:pPr algn="ctr"/>
            <a:r>
              <a:rPr lang="en-US" sz="2000"/>
              <a:t>python hello.py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78664B-28F9-742F-1B85-02251F43161C}"/>
              </a:ext>
            </a:extLst>
          </p:cNvPr>
          <p:cNvSpPr txBox="1"/>
          <p:nvPr/>
        </p:nvSpPr>
        <p:spPr>
          <a:xfrm>
            <a:off x="3605290" y="2151727"/>
            <a:ext cx="249071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dirty="0"/>
              <a:t>What actually happens?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B3ADF-3BE7-2794-9870-973399124DA8}"/>
              </a:ext>
            </a:extLst>
          </p:cNvPr>
          <p:cNvSpPr txBox="1"/>
          <p:nvPr/>
        </p:nvSpPr>
        <p:spPr>
          <a:xfrm>
            <a:off x="6801815" y="1692244"/>
            <a:ext cx="455779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Step 1: You Write Source 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455B3F-11BD-26B1-35A6-D16CD5C2402D}"/>
              </a:ext>
            </a:extLst>
          </p:cNvPr>
          <p:cNvSpPr txBox="1"/>
          <p:nvPr/>
        </p:nvSpPr>
        <p:spPr>
          <a:xfrm>
            <a:off x="7482450" y="2703384"/>
            <a:ext cx="319652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dirty="0"/>
              <a:t>print(“Hello”)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ACE6E8-9B67-D531-330F-388B91442DE1}"/>
              </a:ext>
            </a:extLst>
          </p:cNvPr>
          <p:cNvSpPr txBox="1"/>
          <p:nvPr/>
        </p:nvSpPr>
        <p:spPr>
          <a:xfrm>
            <a:off x="7482450" y="3431607"/>
            <a:ext cx="319652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dirty="0"/>
              <a:t>This is a </a:t>
            </a:r>
            <a:r>
              <a:rPr lang="en-US" sz="2000" b="1" u="sng" dirty="0"/>
              <a:t>source code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08EAAF3-0789-3474-D8FA-69CEF78790C9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9080713" y="3103494"/>
            <a:ext cx="0" cy="3281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EC97D32-39BF-BC8D-A96B-0CC051E7A824}"/>
              </a:ext>
            </a:extLst>
          </p:cNvPr>
          <p:cNvSpPr txBox="1"/>
          <p:nvPr/>
        </p:nvSpPr>
        <p:spPr>
          <a:xfrm>
            <a:off x="6248396" y="4055261"/>
            <a:ext cx="5664634" cy="25237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At this point it's just text inside a file.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Your computer's </a:t>
            </a:r>
            <a:r>
              <a:rPr lang="en-US" sz="2000" u="sng" dirty="0"/>
              <a:t>CPU cannot understand</a:t>
            </a:r>
            <a:r>
              <a:rPr lang="en-US" sz="2000" dirty="0"/>
              <a:t>:</a:t>
            </a:r>
          </a:p>
          <a:p>
            <a:pPr algn="ctr"/>
            <a:r>
              <a:rPr lang="en-US" dirty="0"/>
              <a:t>print("Hello")</a:t>
            </a:r>
          </a:p>
          <a:p>
            <a:pPr algn="ctr"/>
            <a:r>
              <a:rPr lang="en-US" sz="2000" dirty="0"/>
              <a:t>directly.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CPU only understands machine instructions made of binary.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841DFEC0-7B9E-F6D7-3948-6408EDDC1F29}"/>
              </a:ext>
            </a:extLst>
          </p:cNvPr>
          <p:cNvCxnSpPr>
            <a:cxnSpLocks/>
            <a:stCxn id="3" idx="3"/>
            <a:endCxn id="5" idx="2"/>
          </p:cNvCxnSpPr>
          <p:nvPr/>
        </p:nvCxnSpPr>
        <p:spPr>
          <a:xfrm flipV="1">
            <a:off x="3347634" y="2859613"/>
            <a:ext cx="1503011" cy="56938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89813A69-6F67-5AA2-EFFC-86FC80A016F5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6096000" y="1923077"/>
            <a:ext cx="705815" cy="582593"/>
          </a:xfrm>
          <a:prstGeom prst="curvedConnector3">
            <a:avLst>
              <a:gd name="adj1" fmla="val 1925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39EDBE6-7CC8-2665-3B02-AEA6C07B3119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9080712" y="2153909"/>
            <a:ext cx="1" cy="5494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CC3F2E3-D004-EED1-44BD-37B2C38F32EF}"/>
              </a:ext>
            </a:extLst>
          </p:cNvPr>
          <p:cNvCxnSpPr>
            <a:stCxn id="11" idx="2"/>
            <a:endCxn id="15" idx="0"/>
          </p:cNvCxnSpPr>
          <p:nvPr/>
        </p:nvCxnSpPr>
        <p:spPr>
          <a:xfrm>
            <a:off x="9080713" y="3831717"/>
            <a:ext cx="0" cy="2235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777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C424B-13B8-7D06-073F-899274DF3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361A7-F13A-C83B-678E-4FE4E6E68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0759"/>
            <a:ext cx="9144000" cy="116237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Execution of Any Python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1D2218-5612-0B09-DB5E-5B7FE2BC5669}"/>
              </a:ext>
            </a:extLst>
          </p:cNvPr>
          <p:cNvSpPr txBox="1"/>
          <p:nvPr/>
        </p:nvSpPr>
        <p:spPr>
          <a:xfrm>
            <a:off x="788473" y="1286359"/>
            <a:ext cx="455779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Step 2: Operating System Starts Python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A9BDD8-5A29-57F2-575D-6A71F193A06A}"/>
              </a:ext>
            </a:extLst>
          </p:cNvPr>
          <p:cNvSpPr txBox="1"/>
          <p:nvPr/>
        </p:nvSpPr>
        <p:spPr>
          <a:xfrm>
            <a:off x="989304" y="2667808"/>
            <a:ext cx="4156134" cy="677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When you type/run in terminal:</a:t>
            </a:r>
          </a:p>
          <a:p>
            <a:pPr algn="ctr"/>
            <a:r>
              <a:rPr lang="en-US" dirty="0"/>
              <a:t>python hello.py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10381E-2C0E-59CA-B16B-A4399BD5EDFD}"/>
              </a:ext>
            </a:extLst>
          </p:cNvPr>
          <p:cNvSpPr txBox="1"/>
          <p:nvPr/>
        </p:nvSpPr>
        <p:spPr>
          <a:xfrm>
            <a:off x="1469106" y="3786168"/>
            <a:ext cx="3196525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dirty="0"/>
              <a:t>Windows does roughly:</a:t>
            </a:r>
          </a:p>
          <a:p>
            <a:pPr algn="ctr">
              <a:buNone/>
            </a:pPr>
            <a:endParaRPr lang="en-US" sz="2000" dirty="0"/>
          </a:p>
          <a:p>
            <a:pPr algn="ctr">
              <a:buNone/>
            </a:pPr>
            <a:r>
              <a:rPr lang="en-US" sz="2000" dirty="0"/>
              <a:t>Find python.exe</a:t>
            </a:r>
            <a:br>
              <a:rPr lang="en-US" sz="2000" dirty="0"/>
            </a:br>
            <a:r>
              <a:rPr lang="en-US" sz="2000" dirty="0"/>
              <a:t>↓</a:t>
            </a:r>
            <a:br>
              <a:rPr lang="en-US" sz="2000" dirty="0"/>
            </a:br>
            <a:r>
              <a:rPr lang="en-US" sz="2000" dirty="0"/>
              <a:t>Start python.exe</a:t>
            </a:r>
            <a:br>
              <a:rPr lang="en-US" sz="2000" dirty="0"/>
            </a:br>
            <a:r>
              <a:rPr lang="en-US" sz="2000" dirty="0"/>
              <a:t>↓</a:t>
            </a:r>
            <a:br>
              <a:rPr lang="en-US" sz="2000" dirty="0"/>
            </a:br>
            <a:r>
              <a:rPr lang="en-US" sz="2000" dirty="0"/>
              <a:t>Give hello.py to python.exe</a:t>
            </a:r>
            <a:endParaRPr lang="en-US" sz="2000" b="1" u="sng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AE27434-7E34-28A6-FEBE-4C0499EA4F70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3067369" y="3344916"/>
            <a:ext cx="2" cy="4412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725931E-5FED-9AB8-4C7D-68553E1930F1}"/>
              </a:ext>
            </a:extLst>
          </p:cNvPr>
          <p:cNvSpPr txBox="1"/>
          <p:nvPr/>
        </p:nvSpPr>
        <p:spPr>
          <a:xfrm>
            <a:off x="5997842" y="1286359"/>
            <a:ext cx="5664634" cy="12926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Important:</a:t>
            </a:r>
          </a:p>
          <a:p>
            <a:pPr algn="ctr"/>
            <a:r>
              <a:rPr lang="en-US" b="1" u="sng" dirty="0"/>
              <a:t>python.exe</a:t>
            </a:r>
          </a:p>
          <a:p>
            <a:pPr algn="ctr"/>
            <a:r>
              <a:rPr lang="en-US" sz="2000" dirty="0"/>
              <a:t>is itself a </a:t>
            </a:r>
            <a:r>
              <a:rPr lang="en-US" sz="2000" u="sng" dirty="0"/>
              <a:t>normal program</a:t>
            </a:r>
            <a:r>
              <a:rPr lang="en-US" sz="2000" dirty="0"/>
              <a:t>.</a:t>
            </a:r>
          </a:p>
          <a:p>
            <a:pPr algn="ctr"/>
            <a:r>
              <a:rPr lang="en-US" sz="2000" dirty="0"/>
              <a:t>It is called the </a:t>
            </a:r>
            <a:r>
              <a:rPr lang="en-US" sz="2000" b="1" u="sng" dirty="0"/>
              <a:t>Python Interpreter</a:t>
            </a:r>
            <a:r>
              <a:rPr lang="en-US" sz="2000" dirty="0"/>
              <a:t>.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C2C2EE1-41BD-C053-FB54-2A5FC537FE54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3067370" y="2117356"/>
            <a:ext cx="1" cy="5504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8F5FFF51-9034-60CE-5574-7E802B67F890}"/>
              </a:ext>
            </a:extLst>
          </p:cNvPr>
          <p:cNvCxnSpPr>
            <a:stCxn id="11" idx="3"/>
            <a:endCxn id="15" idx="1"/>
          </p:cNvCxnSpPr>
          <p:nvPr/>
        </p:nvCxnSpPr>
        <p:spPr>
          <a:xfrm flipV="1">
            <a:off x="4665631" y="1932690"/>
            <a:ext cx="1332211" cy="2976863"/>
          </a:xfrm>
          <a:prstGeom prst="curvedConnector3">
            <a:avLst>
              <a:gd name="adj1" fmla="val 6279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FC32470-A87A-E38B-B64C-B92920B6E8E9}"/>
              </a:ext>
            </a:extLst>
          </p:cNvPr>
          <p:cNvSpPr txBox="1"/>
          <p:nvPr/>
        </p:nvSpPr>
        <p:spPr>
          <a:xfrm>
            <a:off x="7424330" y="3741393"/>
            <a:ext cx="3196525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dirty="0"/>
              <a:t>Python Code</a:t>
            </a:r>
            <a:br>
              <a:rPr lang="en-US" sz="2000" dirty="0"/>
            </a:br>
            <a:r>
              <a:rPr lang="en-US" sz="2000" dirty="0"/>
              <a:t>↓</a:t>
            </a:r>
            <a:br>
              <a:rPr lang="en-US" sz="2000" dirty="0"/>
            </a:br>
            <a:r>
              <a:rPr lang="en-US" sz="2000" dirty="0"/>
              <a:t>Python Interpreter</a:t>
            </a:r>
            <a:br>
              <a:rPr lang="en-US" sz="2000" dirty="0"/>
            </a:br>
            <a:r>
              <a:rPr lang="en-US" sz="2000" dirty="0"/>
              <a:t>↓</a:t>
            </a:r>
            <a:br>
              <a:rPr lang="en-US" sz="2000" dirty="0"/>
            </a:br>
            <a:r>
              <a:rPr lang="en-US" sz="2000" dirty="0"/>
              <a:t>Instructions Computer Understands</a:t>
            </a:r>
            <a:endParaRPr lang="en-US" sz="2000" b="1" u="sng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7811FAF-8C7F-A878-5D32-90BC05FA87E7}"/>
              </a:ext>
            </a:extLst>
          </p:cNvPr>
          <p:cNvCxnSpPr>
            <a:cxnSpLocks/>
            <a:stCxn id="34" idx="2"/>
            <a:endCxn id="28" idx="0"/>
          </p:cNvCxnSpPr>
          <p:nvPr/>
        </p:nvCxnSpPr>
        <p:spPr>
          <a:xfrm>
            <a:off x="9022592" y="3509097"/>
            <a:ext cx="1" cy="232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9FF3735-725D-EA3F-9D03-2320A44E170B}"/>
              </a:ext>
            </a:extLst>
          </p:cNvPr>
          <p:cNvSpPr txBox="1"/>
          <p:nvPr/>
        </p:nvSpPr>
        <p:spPr>
          <a:xfrm>
            <a:off x="6944525" y="2801211"/>
            <a:ext cx="4156134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What Is the Python Interpreter?</a:t>
            </a:r>
          </a:p>
          <a:p>
            <a:pPr algn="ctr"/>
            <a:r>
              <a:rPr lang="en-US" sz="2000" dirty="0"/>
              <a:t>Think of it as a translator.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C60ACC-AD97-0E13-7266-69569BCCF7CC}"/>
              </a:ext>
            </a:extLst>
          </p:cNvPr>
          <p:cNvSpPr txBox="1"/>
          <p:nvPr/>
        </p:nvSpPr>
        <p:spPr>
          <a:xfrm>
            <a:off x="6944525" y="5728368"/>
            <a:ext cx="4156132" cy="9848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Without the interpreter:</a:t>
            </a:r>
          </a:p>
          <a:p>
            <a:r>
              <a:rPr lang="en-US" dirty="0"/>
              <a:t>print("Hello")</a:t>
            </a:r>
          </a:p>
          <a:p>
            <a:r>
              <a:rPr lang="en-US" sz="2000" dirty="0"/>
              <a:t>is meaningless to the computer.</a:t>
            </a:r>
          </a:p>
        </p:txBody>
      </p:sp>
    </p:spTree>
    <p:extLst>
      <p:ext uri="{BB962C8B-B14F-4D97-AF65-F5344CB8AC3E}">
        <p14:creationId xmlns:p14="http://schemas.microsoft.com/office/powerpoint/2010/main" val="131441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C050C-52EA-95D5-50FD-C42E18B5D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F21FF-E85A-A0F7-CC34-2C86DF1C9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0759"/>
            <a:ext cx="9144000" cy="116237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Execution of Any Python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23110D-C584-775B-B20B-52BB04B1C318}"/>
              </a:ext>
            </a:extLst>
          </p:cNvPr>
          <p:cNvSpPr txBox="1"/>
          <p:nvPr/>
        </p:nvSpPr>
        <p:spPr>
          <a:xfrm>
            <a:off x="788473" y="1286359"/>
            <a:ext cx="455779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Step 3: Python Opens Your File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5DE21B-1613-44AF-5BB3-9217B43E806F}"/>
              </a:ext>
            </a:extLst>
          </p:cNvPr>
          <p:cNvSpPr txBox="1"/>
          <p:nvPr/>
        </p:nvSpPr>
        <p:spPr>
          <a:xfrm>
            <a:off x="989304" y="2667808"/>
            <a:ext cx="4156134" cy="9848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Python reads:</a:t>
            </a:r>
          </a:p>
          <a:p>
            <a:pPr algn="ctr"/>
            <a:r>
              <a:rPr lang="en-US" dirty="0"/>
              <a:t>hello.py</a:t>
            </a:r>
          </a:p>
          <a:p>
            <a:pPr algn="ctr"/>
            <a:r>
              <a:rPr lang="en-US" sz="2000" dirty="0"/>
              <a:t>and loads its contents into memory.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10D3AF-C9BD-9431-3528-B91C2F163A79}"/>
              </a:ext>
            </a:extLst>
          </p:cNvPr>
          <p:cNvSpPr txBox="1"/>
          <p:nvPr/>
        </p:nvSpPr>
        <p:spPr>
          <a:xfrm>
            <a:off x="1469106" y="4158127"/>
            <a:ext cx="3196525" cy="677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Now Python sees:</a:t>
            </a:r>
          </a:p>
          <a:p>
            <a:pPr algn="ctr"/>
            <a:r>
              <a:rPr lang="en-US" dirty="0"/>
              <a:t>print("Hello")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D051202-2809-353C-1876-30EE8EBFBFB5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3067369" y="3652693"/>
            <a:ext cx="2" cy="5054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4E12625-49DF-DFD3-F4AF-869B1FFB4AC4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3067370" y="1748024"/>
            <a:ext cx="1" cy="9197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01442EB-A0AC-E1E3-5032-479B135B7040}"/>
              </a:ext>
            </a:extLst>
          </p:cNvPr>
          <p:cNvSpPr txBox="1"/>
          <p:nvPr/>
        </p:nvSpPr>
        <p:spPr>
          <a:xfrm>
            <a:off x="7424330" y="3397868"/>
            <a:ext cx="3196525" cy="18774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Example:</a:t>
            </a:r>
          </a:p>
          <a:p>
            <a:pPr algn="ctr"/>
            <a:r>
              <a:rPr lang="en-US" sz="1600" dirty="0"/>
              <a:t>print("Hello")</a:t>
            </a:r>
          </a:p>
          <a:p>
            <a:pPr algn="ctr"/>
            <a:r>
              <a:rPr lang="en-US" dirty="0"/>
              <a:t>becomes roughly:</a:t>
            </a:r>
          </a:p>
          <a:p>
            <a:r>
              <a:rPr lang="en-US" sz="1600" dirty="0"/>
              <a:t>print</a:t>
            </a:r>
            <a:br>
              <a:rPr lang="en-US" sz="1600" dirty="0"/>
            </a:br>
            <a:r>
              <a:rPr lang="en-US" sz="1600" dirty="0"/>
              <a:t>(</a:t>
            </a:r>
            <a:br>
              <a:rPr lang="en-US" sz="1600" dirty="0"/>
            </a:br>
            <a:r>
              <a:rPr lang="en-US" sz="1600" dirty="0"/>
              <a:t>"Hello"</a:t>
            </a:r>
            <a:br>
              <a:rPr lang="en-US" sz="1600" dirty="0"/>
            </a:br>
            <a:r>
              <a:rPr lang="en-US" sz="1600" dirty="0"/>
              <a:t>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F591429-29FE-0F03-8188-383DC42FAC48}"/>
              </a:ext>
            </a:extLst>
          </p:cNvPr>
          <p:cNvCxnSpPr>
            <a:cxnSpLocks/>
            <a:stCxn id="34" idx="2"/>
            <a:endCxn id="28" idx="0"/>
          </p:cNvCxnSpPr>
          <p:nvPr/>
        </p:nvCxnSpPr>
        <p:spPr>
          <a:xfrm>
            <a:off x="9022592" y="3160250"/>
            <a:ext cx="1" cy="2376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D2A343E-CBC6-40D8-B618-0EC6A9DE36C6}"/>
              </a:ext>
            </a:extLst>
          </p:cNvPr>
          <p:cNvSpPr txBox="1"/>
          <p:nvPr/>
        </p:nvSpPr>
        <p:spPr>
          <a:xfrm>
            <a:off x="6944525" y="2452364"/>
            <a:ext cx="4156134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Python breaks your code into pieces called </a:t>
            </a:r>
            <a:r>
              <a:rPr lang="en-US" sz="2000" b="1" u="sng" dirty="0"/>
              <a:t>tokens</a:t>
            </a:r>
            <a:r>
              <a:rPr lang="en-US" sz="2000" dirty="0"/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09DC2E-3008-719E-649E-2F13A5F44B7F}"/>
              </a:ext>
            </a:extLst>
          </p:cNvPr>
          <p:cNvSpPr txBox="1"/>
          <p:nvPr/>
        </p:nvSpPr>
        <p:spPr>
          <a:xfrm>
            <a:off x="6944525" y="5411149"/>
            <a:ext cx="4156132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Python identifies:</a:t>
            </a:r>
          </a:p>
          <a:p>
            <a:r>
              <a:rPr lang="en-US" sz="2000" dirty="0"/>
              <a:t>Function name </a:t>
            </a:r>
          </a:p>
          <a:p>
            <a:r>
              <a:rPr lang="en-US" sz="2000" dirty="0"/>
              <a:t>Parentheses </a:t>
            </a:r>
          </a:p>
          <a:p>
            <a:r>
              <a:rPr lang="en-US" sz="2000" dirty="0"/>
              <a:t>String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6C9DF9-ED60-D97A-249B-C725D920B8D0}"/>
              </a:ext>
            </a:extLst>
          </p:cNvPr>
          <p:cNvSpPr txBox="1"/>
          <p:nvPr/>
        </p:nvSpPr>
        <p:spPr>
          <a:xfrm>
            <a:off x="6743695" y="1253131"/>
            <a:ext cx="455779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Step 4: Lexical Analysis (Tokenization)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FD35D3C-C6D1-5D0C-4763-81D17FF23ACE}"/>
              </a:ext>
            </a:extLst>
          </p:cNvPr>
          <p:cNvCxnSpPr>
            <a:cxnSpLocks/>
            <a:stCxn id="5" idx="2"/>
            <a:endCxn id="34" idx="0"/>
          </p:cNvCxnSpPr>
          <p:nvPr/>
        </p:nvCxnSpPr>
        <p:spPr>
          <a:xfrm>
            <a:off x="9022592" y="2084128"/>
            <a:ext cx="0" cy="3682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A884482-CB81-4F17-1B1C-A847A8652F33}"/>
              </a:ext>
            </a:extLst>
          </p:cNvPr>
          <p:cNvCxnSpPr>
            <a:cxnSpLocks/>
          </p:cNvCxnSpPr>
          <p:nvPr/>
        </p:nvCxnSpPr>
        <p:spPr>
          <a:xfrm>
            <a:off x="7084008" y="3160250"/>
            <a:ext cx="0" cy="22508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892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C4F94-D7C9-B1C1-46BF-8035CCE00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13311-FDBE-EF78-987A-BEC8E55CDA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0759"/>
            <a:ext cx="9144000" cy="116237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Execution of Any Python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AE7A83-9062-F2DC-4AC2-BC17DD69E1F6}"/>
              </a:ext>
            </a:extLst>
          </p:cNvPr>
          <p:cNvSpPr txBox="1"/>
          <p:nvPr/>
        </p:nvSpPr>
        <p:spPr>
          <a:xfrm>
            <a:off x="788473" y="1286359"/>
            <a:ext cx="455779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Step 5: Parsing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242B43-F589-D5D1-D0FA-69B870E52E50}"/>
              </a:ext>
            </a:extLst>
          </p:cNvPr>
          <p:cNvSpPr txBox="1"/>
          <p:nvPr/>
        </p:nvSpPr>
        <p:spPr>
          <a:xfrm>
            <a:off x="989304" y="2104239"/>
            <a:ext cx="4156134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Python checks:</a:t>
            </a:r>
          </a:p>
          <a:p>
            <a:pPr algn="ctr"/>
            <a:r>
              <a:rPr lang="en-US" sz="2000" dirty="0"/>
              <a:t>"Does this follow Python grammar?"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6B7E89-3897-6598-E8AB-FEBF89D37694}"/>
              </a:ext>
            </a:extLst>
          </p:cNvPr>
          <p:cNvSpPr txBox="1"/>
          <p:nvPr/>
        </p:nvSpPr>
        <p:spPr>
          <a:xfrm>
            <a:off x="1469097" y="3279059"/>
            <a:ext cx="3196525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If grammar is wrong:</a:t>
            </a:r>
          </a:p>
          <a:p>
            <a:pPr algn="ctr"/>
            <a:r>
              <a:rPr lang="en-US" dirty="0"/>
              <a:t>SyntaxError/Traceback</a:t>
            </a:r>
          </a:p>
          <a:p>
            <a:pPr algn="ctr"/>
            <a:r>
              <a:rPr lang="en-US" sz="2000" dirty="0"/>
              <a:t>appears.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Execution stops.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AA2640-6434-E827-5927-9C46EB063D80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3067360" y="2812125"/>
            <a:ext cx="11" cy="4669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85B69F9-37CC-D59D-F896-A85229243817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3067370" y="1748024"/>
            <a:ext cx="1" cy="356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4487987-F0B5-FE2D-5D6F-206DD1943A1C}"/>
              </a:ext>
            </a:extLst>
          </p:cNvPr>
          <p:cNvSpPr txBox="1"/>
          <p:nvPr/>
        </p:nvSpPr>
        <p:spPr>
          <a:xfrm>
            <a:off x="7424330" y="3397868"/>
            <a:ext cx="31965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u="sng" dirty="0"/>
              <a:t>Bytecode</a:t>
            </a:r>
            <a:endParaRPr lang="en-US" sz="1600" b="1" u="sng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382A09C-D072-C1CB-3E4A-FE9539CF3BB3}"/>
              </a:ext>
            </a:extLst>
          </p:cNvPr>
          <p:cNvCxnSpPr>
            <a:cxnSpLocks/>
            <a:stCxn id="34" idx="2"/>
            <a:endCxn id="28" idx="0"/>
          </p:cNvCxnSpPr>
          <p:nvPr/>
        </p:nvCxnSpPr>
        <p:spPr>
          <a:xfrm>
            <a:off x="9022590" y="3113853"/>
            <a:ext cx="3" cy="2840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C719C33-DD6C-BC44-9A6E-CB303DC6C114}"/>
              </a:ext>
            </a:extLst>
          </p:cNvPr>
          <p:cNvSpPr txBox="1"/>
          <p:nvPr/>
        </p:nvSpPr>
        <p:spPr>
          <a:xfrm>
            <a:off x="6944523" y="2098190"/>
            <a:ext cx="4156134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If syntax is correct:</a:t>
            </a:r>
          </a:p>
          <a:p>
            <a:pPr algn="ctr"/>
            <a:r>
              <a:rPr lang="en-US" sz="2000" dirty="0"/>
              <a:t>Python converts code into an intermediate form called: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02D369-5E1B-5425-9234-82C4A70FD488}"/>
              </a:ext>
            </a:extLst>
          </p:cNvPr>
          <p:cNvSpPr txBox="1"/>
          <p:nvPr/>
        </p:nvSpPr>
        <p:spPr>
          <a:xfrm>
            <a:off x="6944523" y="4914576"/>
            <a:ext cx="4156132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Flow:</a:t>
            </a:r>
          </a:p>
          <a:p>
            <a:pPr algn="ctr"/>
            <a:r>
              <a:rPr lang="en-US" dirty="0"/>
              <a:t>Your Code</a:t>
            </a:r>
            <a:br>
              <a:rPr lang="en-US" dirty="0"/>
            </a:br>
            <a:r>
              <a:rPr lang="en-US" dirty="0"/>
              <a:t>      ↓</a:t>
            </a:r>
            <a:br>
              <a:rPr lang="en-US" dirty="0"/>
            </a:br>
            <a:r>
              <a:rPr lang="en-US" dirty="0"/>
              <a:t>Bytecode</a:t>
            </a:r>
            <a:br>
              <a:rPr lang="en-US" dirty="0"/>
            </a:br>
            <a:r>
              <a:rPr lang="en-US" dirty="0"/>
              <a:t>      ↓</a:t>
            </a:r>
            <a:br>
              <a:rPr lang="en-US" dirty="0"/>
            </a:br>
            <a:r>
              <a:rPr lang="en-US" dirty="0"/>
              <a:t>Execution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AD0818-07F0-6A77-941D-7C356FE27CF4}"/>
              </a:ext>
            </a:extLst>
          </p:cNvPr>
          <p:cNvSpPr txBox="1"/>
          <p:nvPr/>
        </p:nvSpPr>
        <p:spPr>
          <a:xfrm>
            <a:off x="6743695" y="1253131"/>
            <a:ext cx="455779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Step 6: Bytecode Generation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E0BB970-26D4-A853-8690-8CA71D68B31D}"/>
              </a:ext>
            </a:extLst>
          </p:cNvPr>
          <p:cNvCxnSpPr>
            <a:cxnSpLocks/>
            <a:stCxn id="5" idx="2"/>
            <a:endCxn id="34" idx="0"/>
          </p:cNvCxnSpPr>
          <p:nvPr/>
        </p:nvCxnSpPr>
        <p:spPr>
          <a:xfrm flipH="1">
            <a:off x="9022590" y="1714796"/>
            <a:ext cx="2" cy="3833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C0C4A0D-D0FE-A8B2-C8AB-62B6112B984F}"/>
              </a:ext>
            </a:extLst>
          </p:cNvPr>
          <p:cNvSpPr txBox="1"/>
          <p:nvPr/>
        </p:nvSpPr>
        <p:spPr>
          <a:xfrm>
            <a:off x="6944523" y="3986945"/>
            <a:ext cx="4156132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Bytecode is simpler for Python to execute.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AC530BC-D87D-40DC-B86D-67FB6D4AECB3}"/>
              </a:ext>
            </a:extLst>
          </p:cNvPr>
          <p:cNvCxnSpPr>
            <a:cxnSpLocks/>
            <a:stCxn id="28" idx="2"/>
            <a:endCxn id="15" idx="0"/>
          </p:cNvCxnSpPr>
          <p:nvPr/>
        </p:nvCxnSpPr>
        <p:spPr>
          <a:xfrm flipH="1">
            <a:off x="9022589" y="3767200"/>
            <a:ext cx="4" cy="2197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338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1E516-73B0-F3E4-2079-1BEB02A1A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C3B77-18B7-C207-FD90-0B9F8A6D95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0759"/>
            <a:ext cx="9144000" cy="116237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Execution of Any Python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C18683-6753-5DD4-7541-ADA3298477F9}"/>
              </a:ext>
            </a:extLst>
          </p:cNvPr>
          <p:cNvSpPr txBox="1"/>
          <p:nvPr/>
        </p:nvSpPr>
        <p:spPr>
          <a:xfrm>
            <a:off x="788473" y="1286359"/>
            <a:ext cx="455779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Step 7: Python Virtual Machine (PVM)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0CB9A4-22C7-95C8-59BF-B0FD9CBC53C7}"/>
              </a:ext>
            </a:extLst>
          </p:cNvPr>
          <p:cNvSpPr txBox="1"/>
          <p:nvPr/>
        </p:nvSpPr>
        <p:spPr>
          <a:xfrm>
            <a:off x="989304" y="2405967"/>
            <a:ext cx="4156134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Now Python's internal engine starts running instructions.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1A97DB-B829-5381-6236-8B9D1D95B5B4}"/>
              </a:ext>
            </a:extLst>
          </p:cNvPr>
          <p:cNvSpPr txBox="1"/>
          <p:nvPr/>
        </p:nvSpPr>
        <p:spPr>
          <a:xfrm>
            <a:off x="989281" y="3377745"/>
            <a:ext cx="4156158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Flow:</a:t>
            </a:r>
          </a:p>
          <a:p>
            <a:pPr algn="ctr"/>
            <a:r>
              <a:rPr lang="en-US" dirty="0"/>
              <a:t>Bytecode</a:t>
            </a:r>
            <a:br>
              <a:rPr lang="en-US" dirty="0"/>
            </a:br>
            <a:r>
              <a:rPr lang="en-US" dirty="0"/>
              <a:t>      ↓</a:t>
            </a:r>
            <a:br>
              <a:rPr lang="en-US" dirty="0"/>
            </a:br>
            <a:r>
              <a:rPr lang="en-US" dirty="0"/>
              <a:t>Python Virtual Machine</a:t>
            </a:r>
            <a:br>
              <a:rPr lang="en-US" dirty="0"/>
            </a:br>
            <a:r>
              <a:rPr lang="en-US" dirty="0"/>
              <a:t>      ↓</a:t>
            </a:r>
            <a:br>
              <a:rPr lang="en-US" dirty="0"/>
            </a:br>
            <a:r>
              <a:rPr lang="en-US" dirty="0"/>
              <a:t>Actual Execution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The </a:t>
            </a:r>
            <a:r>
              <a:rPr lang="en-US" sz="2000" b="1" u="sng" dirty="0"/>
              <a:t>PVM</a:t>
            </a:r>
            <a:r>
              <a:rPr lang="en-US" sz="2000" dirty="0"/>
              <a:t> is like a tiny computer living inside Python.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3DF0EB8-EF54-BE5E-5F33-0F9E9A96728A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3067360" y="3113853"/>
            <a:ext cx="11" cy="2638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9AAFCA4-BBE2-EF0D-9E3F-56983B3E04D1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3067370" y="2117356"/>
            <a:ext cx="1" cy="2886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6375F95-9196-EC49-6024-353798084550}"/>
              </a:ext>
            </a:extLst>
          </p:cNvPr>
          <p:cNvSpPr txBox="1"/>
          <p:nvPr/>
        </p:nvSpPr>
        <p:spPr>
          <a:xfrm>
            <a:off x="7424330" y="3397868"/>
            <a:ext cx="3196525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Find print</a:t>
            </a:r>
          </a:p>
          <a:p>
            <a:pPr algn="ctr"/>
            <a:r>
              <a:rPr lang="en-US" dirty="0"/>
              <a:t>Locate built-in print function</a:t>
            </a:r>
          </a:p>
          <a:p>
            <a:pPr algn="ctr"/>
            <a:endParaRPr lang="en-US" dirty="0"/>
          </a:p>
          <a:p>
            <a:pPr algn="ctr"/>
            <a:r>
              <a:rPr lang="en-US" b="1" dirty="0"/>
              <a:t>Evaluate argument</a:t>
            </a:r>
          </a:p>
          <a:p>
            <a:pPr algn="ctr"/>
            <a:r>
              <a:rPr lang="en-US" dirty="0"/>
              <a:t>"Hello"</a:t>
            </a:r>
          </a:p>
          <a:p>
            <a:pPr algn="ctr"/>
            <a:r>
              <a:rPr lang="en-US" dirty="0"/>
              <a:t>String object created.</a:t>
            </a:r>
          </a:p>
          <a:p>
            <a:pPr algn="ctr"/>
            <a:endParaRPr lang="en-US" dirty="0"/>
          </a:p>
          <a:p>
            <a:pPr algn="ctr"/>
            <a:r>
              <a:rPr lang="en-US" b="1" dirty="0"/>
              <a:t>Call print</a:t>
            </a:r>
          </a:p>
          <a:p>
            <a:pPr algn="ctr"/>
            <a:r>
              <a:rPr lang="en-US" dirty="0"/>
              <a:t>print receives string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98DD945-BA44-F07C-E1FB-EFCAC699F60C}"/>
              </a:ext>
            </a:extLst>
          </p:cNvPr>
          <p:cNvCxnSpPr>
            <a:cxnSpLocks/>
            <a:stCxn id="34" idx="2"/>
            <a:endCxn id="28" idx="0"/>
          </p:cNvCxnSpPr>
          <p:nvPr/>
        </p:nvCxnSpPr>
        <p:spPr>
          <a:xfrm>
            <a:off x="9022590" y="3083075"/>
            <a:ext cx="3" cy="3147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F526310-0009-0D2E-833B-CD32D741BD66}"/>
              </a:ext>
            </a:extLst>
          </p:cNvPr>
          <p:cNvSpPr txBox="1"/>
          <p:nvPr/>
        </p:nvSpPr>
        <p:spPr>
          <a:xfrm>
            <a:off x="6944523" y="2098190"/>
            <a:ext cx="4156134" cy="9848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Python reaches:</a:t>
            </a:r>
          </a:p>
          <a:p>
            <a:pPr algn="ctr"/>
            <a:r>
              <a:rPr lang="en-US" dirty="0"/>
              <a:t>print("Hello")</a:t>
            </a:r>
          </a:p>
          <a:p>
            <a:pPr algn="ctr"/>
            <a:r>
              <a:rPr lang="en-US" sz="2000" dirty="0"/>
              <a:t>It performs: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222CD-43C2-F9CB-B241-4405A5D0337C}"/>
              </a:ext>
            </a:extLst>
          </p:cNvPr>
          <p:cNvSpPr txBox="1"/>
          <p:nvPr/>
        </p:nvSpPr>
        <p:spPr>
          <a:xfrm>
            <a:off x="6743695" y="1253131"/>
            <a:ext cx="455779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Step 8: Executing print()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FC6D4DF-6346-D929-CB82-A78DE827F09C}"/>
              </a:ext>
            </a:extLst>
          </p:cNvPr>
          <p:cNvCxnSpPr>
            <a:cxnSpLocks/>
            <a:stCxn id="5" idx="2"/>
            <a:endCxn id="34" idx="0"/>
          </p:cNvCxnSpPr>
          <p:nvPr/>
        </p:nvCxnSpPr>
        <p:spPr>
          <a:xfrm flipH="1">
            <a:off x="9022590" y="1714796"/>
            <a:ext cx="2" cy="3833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6CC1B40-FD8D-FFEE-93C3-9F3A0A7D13E5}"/>
              </a:ext>
            </a:extLst>
          </p:cNvPr>
          <p:cNvCxnSpPr>
            <a:cxnSpLocks/>
          </p:cNvCxnSpPr>
          <p:nvPr/>
        </p:nvCxnSpPr>
        <p:spPr>
          <a:xfrm>
            <a:off x="9022590" y="4003793"/>
            <a:ext cx="3" cy="3147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26FEC7-2824-BEA1-1365-4F5B2341E83F}"/>
              </a:ext>
            </a:extLst>
          </p:cNvPr>
          <p:cNvCxnSpPr>
            <a:cxnSpLocks/>
          </p:cNvCxnSpPr>
          <p:nvPr/>
        </p:nvCxnSpPr>
        <p:spPr>
          <a:xfrm>
            <a:off x="9022590" y="5060118"/>
            <a:ext cx="3" cy="3147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6965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D66C2-EAAF-2AA9-A4C4-F3F400926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1446C-57EC-A5CA-A006-B27A616C1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0759"/>
            <a:ext cx="9144000" cy="116237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Execution of Any Python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F397F-4AA6-D8D2-A26B-627E6F36FB71}"/>
              </a:ext>
            </a:extLst>
          </p:cNvPr>
          <p:cNvSpPr txBox="1"/>
          <p:nvPr/>
        </p:nvSpPr>
        <p:spPr>
          <a:xfrm>
            <a:off x="788473" y="1286359"/>
            <a:ext cx="455779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Step 9: Send Output to stdout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E0E76D-BBFB-B295-D58F-00ECF5019AF8}"/>
              </a:ext>
            </a:extLst>
          </p:cNvPr>
          <p:cNvSpPr txBox="1"/>
          <p:nvPr/>
        </p:nvSpPr>
        <p:spPr>
          <a:xfrm>
            <a:off x="989304" y="2405967"/>
            <a:ext cx="4156134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Python does NOT draw directly on the screen.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65431E-6C89-15EC-94CD-A7622CDCEDB3}"/>
              </a:ext>
            </a:extLst>
          </p:cNvPr>
          <p:cNvSpPr txBox="1"/>
          <p:nvPr/>
        </p:nvSpPr>
        <p:spPr>
          <a:xfrm>
            <a:off x="989281" y="3377745"/>
            <a:ext cx="4156158" cy="28315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Instead:</a:t>
            </a:r>
          </a:p>
          <a:p>
            <a:pPr algn="ctr"/>
            <a:r>
              <a:rPr lang="en-US" sz="2000" dirty="0"/>
              <a:t>print()</a:t>
            </a:r>
            <a:br>
              <a:rPr lang="en-US" sz="2000" dirty="0"/>
            </a:br>
            <a:r>
              <a:rPr lang="en-US" sz="2000" dirty="0"/>
              <a:t>↓</a:t>
            </a:r>
            <a:br>
              <a:rPr lang="en-US" sz="2000" dirty="0"/>
            </a:br>
            <a:r>
              <a:rPr lang="en-US" sz="2000" dirty="0"/>
              <a:t>stdout (Standard Output)</a:t>
            </a:r>
          </a:p>
          <a:p>
            <a:pPr algn="ctr"/>
            <a:r>
              <a:rPr lang="en-US" sz="2000" dirty="0"/>
              <a:t>A channel used to send text.</a:t>
            </a:r>
            <a:br>
              <a:rPr lang="en-US" sz="2000" dirty="0"/>
            </a:br>
            <a:r>
              <a:rPr lang="en-US" sz="2000" dirty="0"/>
              <a:t>↓</a:t>
            </a:r>
            <a:br>
              <a:rPr lang="en-US" sz="2000" dirty="0"/>
            </a:br>
            <a:r>
              <a:rPr lang="en-US" sz="2000" dirty="0"/>
              <a:t>Terminal</a:t>
            </a:r>
            <a:br>
              <a:rPr lang="en-US" sz="2000" dirty="0"/>
            </a:br>
            <a:r>
              <a:rPr lang="en-US" sz="2000" dirty="0"/>
              <a:t>↓</a:t>
            </a:r>
            <a:br>
              <a:rPr lang="en-US" sz="2000" dirty="0"/>
            </a:br>
            <a:r>
              <a:rPr lang="en-US" sz="2000" dirty="0"/>
              <a:t>Screen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77D833-7586-4CF7-BD56-CC80980771E4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3067360" y="3113853"/>
            <a:ext cx="11" cy="2638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781F892-2452-889A-D4DA-774B39B11347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3067370" y="1748024"/>
            <a:ext cx="1" cy="6579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7DAED22-5754-BB14-9B25-7CC9290536C8}"/>
              </a:ext>
            </a:extLst>
          </p:cNvPr>
          <p:cNvSpPr txBox="1"/>
          <p:nvPr/>
        </p:nvSpPr>
        <p:spPr>
          <a:xfrm>
            <a:off x="6944523" y="2935099"/>
            <a:ext cx="4156134" cy="2185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Terminal receives:</a:t>
            </a:r>
          </a:p>
          <a:p>
            <a:pPr algn="ctr"/>
            <a:r>
              <a:rPr lang="en-US" dirty="0"/>
              <a:t>Hello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and displays:</a:t>
            </a:r>
          </a:p>
          <a:p>
            <a:pPr algn="ctr"/>
            <a:r>
              <a:rPr lang="en-US" dirty="0"/>
              <a:t>Hello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on your monitor.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C33183-6DEB-C250-4DAB-F4753A95D6B3}"/>
              </a:ext>
            </a:extLst>
          </p:cNvPr>
          <p:cNvSpPr txBox="1"/>
          <p:nvPr/>
        </p:nvSpPr>
        <p:spPr>
          <a:xfrm>
            <a:off x="6743695" y="1253131"/>
            <a:ext cx="455779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Step 10: Terminal Displays Output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7CFC9C2-8D89-029C-67C9-7219ED3A479C}"/>
              </a:ext>
            </a:extLst>
          </p:cNvPr>
          <p:cNvCxnSpPr>
            <a:cxnSpLocks/>
            <a:stCxn id="5" idx="2"/>
            <a:endCxn id="34" idx="0"/>
          </p:cNvCxnSpPr>
          <p:nvPr/>
        </p:nvCxnSpPr>
        <p:spPr>
          <a:xfrm flipH="1">
            <a:off x="9022590" y="2084128"/>
            <a:ext cx="2" cy="8509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670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2236D-0DC1-D7E7-4E47-BA9136CDE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9C7CE-21DF-D1B8-CC82-366A044D0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0759"/>
            <a:ext cx="9144000" cy="116237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Execution of Any Python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AC45A6-48E6-1D4A-BA1B-740A87B92482}"/>
              </a:ext>
            </a:extLst>
          </p:cNvPr>
          <p:cNvSpPr txBox="1"/>
          <p:nvPr/>
        </p:nvSpPr>
        <p:spPr>
          <a:xfrm>
            <a:off x="788473" y="1286359"/>
            <a:ext cx="455779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Step 11: Program Ends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BEA4D5-EFDF-C688-6919-12D8F81B83DD}"/>
              </a:ext>
            </a:extLst>
          </p:cNvPr>
          <p:cNvSpPr txBox="1"/>
          <p:nvPr/>
        </p:nvSpPr>
        <p:spPr>
          <a:xfrm>
            <a:off x="989304" y="2405967"/>
            <a:ext cx="4156134" cy="677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Python sees:</a:t>
            </a:r>
          </a:p>
          <a:p>
            <a:pPr algn="ctr"/>
            <a:r>
              <a:rPr lang="en-US" dirty="0"/>
              <a:t>No more instructions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55220E-C20F-A7AD-6B5A-06D223858E2E}"/>
              </a:ext>
            </a:extLst>
          </p:cNvPr>
          <p:cNvSpPr txBox="1"/>
          <p:nvPr/>
        </p:nvSpPr>
        <p:spPr>
          <a:xfrm>
            <a:off x="989280" y="3734505"/>
            <a:ext cx="415615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So:</a:t>
            </a:r>
          </a:p>
          <a:p>
            <a:pPr algn="ctr"/>
            <a:r>
              <a:rPr lang="en-US" dirty="0"/>
              <a:t>Memory cleaned</a:t>
            </a:r>
            <a:br>
              <a:rPr lang="en-US" dirty="0"/>
            </a:br>
            <a:r>
              <a:rPr lang="en-US" dirty="0"/>
              <a:t>Program exits</a:t>
            </a:r>
            <a:br>
              <a:rPr lang="en-US" dirty="0"/>
            </a:br>
            <a:r>
              <a:rPr lang="en-US" dirty="0"/>
              <a:t>Control returns to terminal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D3EB89C-5160-D288-72CD-25C782F4753C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3067359" y="3083075"/>
            <a:ext cx="12" cy="6514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735719B-562A-8E3B-6AAD-AB012B9647D7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3067370" y="1748024"/>
            <a:ext cx="1" cy="6579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BF75184-C955-56BF-6726-F48E594DDE6D}"/>
              </a:ext>
            </a:extLst>
          </p:cNvPr>
          <p:cNvSpPr txBox="1"/>
          <p:nvPr/>
        </p:nvSpPr>
        <p:spPr>
          <a:xfrm>
            <a:off x="6049505" y="1129143"/>
            <a:ext cx="6098582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hello.py</a:t>
            </a:r>
          </a:p>
          <a:p>
            <a:pPr algn="ctr"/>
            <a:r>
              <a:rPr lang="en-US" sz="1400" dirty="0"/>
              <a:t>      ↓</a:t>
            </a:r>
          </a:p>
          <a:p>
            <a:pPr algn="ctr"/>
            <a:r>
              <a:rPr lang="en-US" sz="1400" dirty="0"/>
              <a:t>python hello.py</a:t>
            </a:r>
          </a:p>
          <a:p>
            <a:pPr algn="ctr"/>
            <a:r>
              <a:rPr lang="en-US" sz="1400" dirty="0"/>
              <a:t>      ↓</a:t>
            </a:r>
          </a:p>
          <a:p>
            <a:pPr algn="ctr"/>
            <a:r>
              <a:rPr lang="en-US" sz="1400" dirty="0"/>
              <a:t>Windows starts python.exe</a:t>
            </a:r>
          </a:p>
          <a:p>
            <a:pPr algn="ctr"/>
            <a:r>
              <a:rPr lang="en-US" sz="1400" dirty="0"/>
              <a:t>      ↓</a:t>
            </a:r>
          </a:p>
          <a:p>
            <a:pPr algn="ctr"/>
            <a:r>
              <a:rPr lang="en-US" sz="1400" dirty="0"/>
              <a:t>Python reads file</a:t>
            </a:r>
          </a:p>
          <a:p>
            <a:pPr algn="ctr"/>
            <a:r>
              <a:rPr lang="en-US" sz="1400" dirty="0"/>
              <a:t>      ↓</a:t>
            </a:r>
          </a:p>
          <a:p>
            <a:pPr algn="ctr"/>
            <a:r>
              <a:rPr lang="en-US" sz="1400" dirty="0"/>
              <a:t>Tokenization</a:t>
            </a:r>
          </a:p>
          <a:p>
            <a:pPr algn="ctr"/>
            <a:r>
              <a:rPr lang="en-US" sz="1400" dirty="0"/>
              <a:t>      ↓</a:t>
            </a:r>
          </a:p>
          <a:p>
            <a:pPr algn="ctr"/>
            <a:r>
              <a:rPr lang="en-US" sz="1400" dirty="0"/>
              <a:t>Parsing</a:t>
            </a:r>
          </a:p>
          <a:p>
            <a:pPr algn="ctr"/>
            <a:r>
              <a:rPr lang="en-US" sz="1400" dirty="0"/>
              <a:t>      ↓</a:t>
            </a:r>
          </a:p>
          <a:p>
            <a:pPr algn="ctr"/>
            <a:r>
              <a:rPr lang="en-US" sz="1400" dirty="0"/>
              <a:t>Syntax checking</a:t>
            </a:r>
          </a:p>
          <a:p>
            <a:pPr algn="ctr"/>
            <a:r>
              <a:rPr lang="en-US" sz="1400" dirty="0"/>
              <a:t>      ↓</a:t>
            </a:r>
          </a:p>
          <a:p>
            <a:pPr algn="ctr"/>
            <a:r>
              <a:rPr lang="en-US" sz="1400" dirty="0"/>
              <a:t>Bytecode generation</a:t>
            </a:r>
          </a:p>
          <a:p>
            <a:pPr algn="ctr"/>
            <a:r>
              <a:rPr lang="en-US" sz="1400" dirty="0"/>
              <a:t>      ↓</a:t>
            </a:r>
          </a:p>
          <a:p>
            <a:pPr algn="ctr"/>
            <a:r>
              <a:rPr lang="en-US" sz="1400" dirty="0"/>
              <a:t>Python Virtual Machine</a:t>
            </a:r>
          </a:p>
          <a:p>
            <a:pPr algn="ctr"/>
            <a:r>
              <a:rPr lang="en-US" sz="1400" dirty="0"/>
              <a:t>      ↓</a:t>
            </a:r>
          </a:p>
          <a:p>
            <a:pPr algn="ctr"/>
            <a:r>
              <a:rPr lang="en-US" sz="1400" dirty="0"/>
              <a:t>Execute print()</a:t>
            </a:r>
          </a:p>
          <a:p>
            <a:pPr algn="ctr"/>
            <a:r>
              <a:rPr lang="en-US" sz="1400" dirty="0"/>
              <a:t>      ↓</a:t>
            </a:r>
          </a:p>
          <a:p>
            <a:pPr algn="ctr"/>
            <a:r>
              <a:rPr lang="en-US" sz="1400" dirty="0"/>
              <a:t>stdout</a:t>
            </a:r>
          </a:p>
          <a:p>
            <a:pPr algn="ctr"/>
            <a:r>
              <a:rPr lang="en-US" sz="1400" dirty="0"/>
              <a:t>      ↓</a:t>
            </a:r>
          </a:p>
          <a:p>
            <a:pPr algn="ctr"/>
            <a:r>
              <a:rPr lang="en-US" sz="1400" dirty="0"/>
              <a:t>Terminal</a:t>
            </a:r>
          </a:p>
          <a:p>
            <a:pPr algn="ctr"/>
            <a:r>
              <a:rPr lang="en-US" sz="1400" dirty="0"/>
              <a:t>      ↓</a:t>
            </a:r>
          </a:p>
          <a:p>
            <a:pPr algn="ctr"/>
            <a:r>
              <a:rPr lang="en-US" sz="1400" dirty="0"/>
              <a:t>Screen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3EBEFE-7C56-3910-5150-52C00C235FE0}"/>
              </a:ext>
            </a:extLst>
          </p:cNvPr>
          <p:cNvSpPr/>
          <p:nvPr/>
        </p:nvSpPr>
        <p:spPr>
          <a:xfrm>
            <a:off x="7470183" y="1129143"/>
            <a:ext cx="3197817" cy="54784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70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4E9A5-4ED3-FFE9-1A90-D6F53B80F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22181-FABA-06B4-EB53-F4033FEC5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0759"/>
            <a:ext cx="9144000" cy="116237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Syntax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0FB9A9-778F-A167-2100-7EFD86845A6A}"/>
              </a:ext>
            </a:extLst>
          </p:cNvPr>
          <p:cNvSpPr txBox="1"/>
          <p:nvPr/>
        </p:nvSpPr>
        <p:spPr>
          <a:xfrm>
            <a:off x="732616" y="1250899"/>
            <a:ext cx="10726768" cy="1446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Syntax is the set of rules that determines how Python code must be written so that Python can understand it.</a:t>
            </a:r>
          </a:p>
          <a:p>
            <a:pPr algn="ctr"/>
            <a:endParaRPr lang="en-US" sz="2200" dirty="0"/>
          </a:p>
          <a:p>
            <a:pPr algn="ctr"/>
            <a:r>
              <a:rPr lang="en-US" sz="2200" dirty="0"/>
              <a:t>In simple words: Syntax means the grammar rules of a programming language.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605CD1-C1F5-9DF1-D384-56D8467EF800}"/>
              </a:ext>
            </a:extLst>
          </p:cNvPr>
          <p:cNvSpPr txBox="1"/>
          <p:nvPr/>
        </p:nvSpPr>
        <p:spPr>
          <a:xfrm>
            <a:off x="732616" y="2883279"/>
            <a:ext cx="4905856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Where Does Syntax Checking Happen?</a:t>
            </a:r>
          </a:p>
          <a:p>
            <a:pPr algn="ctr"/>
            <a:endParaRPr lang="en-US" dirty="0"/>
          </a:p>
          <a:p>
            <a:pPr algn="ctr"/>
            <a:r>
              <a:rPr lang="en-US" sz="1600" dirty="0"/>
              <a:t>Source Code</a:t>
            </a:r>
          </a:p>
          <a:p>
            <a:pPr algn="ctr"/>
            <a:r>
              <a:rPr lang="en-US" sz="1600" dirty="0"/>
              <a:t>      ↓</a:t>
            </a:r>
          </a:p>
          <a:p>
            <a:pPr algn="ctr"/>
            <a:r>
              <a:rPr lang="en-US" sz="1600" dirty="0"/>
              <a:t>Tokenization</a:t>
            </a:r>
          </a:p>
          <a:p>
            <a:pPr algn="ctr"/>
            <a:r>
              <a:rPr lang="en-US" sz="1600" dirty="0"/>
              <a:t>      ↓</a:t>
            </a:r>
          </a:p>
          <a:p>
            <a:pPr algn="ctr"/>
            <a:r>
              <a:rPr lang="en-US" sz="1600" dirty="0"/>
              <a:t>Parsing</a:t>
            </a:r>
          </a:p>
          <a:p>
            <a:pPr algn="ctr"/>
            <a:r>
              <a:rPr lang="en-US" sz="1600" dirty="0"/>
              <a:t>      ↓</a:t>
            </a:r>
          </a:p>
          <a:p>
            <a:pPr algn="ctr"/>
            <a:r>
              <a:rPr lang="en-US" sz="1600" u="sng" dirty="0"/>
              <a:t>Syntax Check</a:t>
            </a:r>
          </a:p>
          <a:p>
            <a:pPr algn="ctr"/>
            <a:r>
              <a:rPr lang="en-US" sz="1600" dirty="0"/>
              <a:t>Parsing is the stage where syntax is checked.</a:t>
            </a:r>
            <a:endParaRPr lang="en-US" sz="1600" u="sng" dirty="0"/>
          </a:p>
          <a:p>
            <a:pPr algn="ctr"/>
            <a:r>
              <a:rPr lang="en-US" sz="1600" dirty="0"/>
              <a:t>      ↓</a:t>
            </a:r>
          </a:p>
          <a:p>
            <a:pPr algn="ctr"/>
            <a:r>
              <a:rPr lang="en-US" sz="1600" dirty="0"/>
              <a:t>Bytecode</a:t>
            </a:r>
          </a:p>
          <a:p>
            <a:pPr algn="ctr"/>
            <a:r>
              <a:rPr lang="en-US" sz="1600" dirty="0"/>
              <a:t>      ↓</a:t>
            </a:r>
          </a:p>
          <a:p>
            <a:pPr algn="ctr"/>
            <a:r>
              <a:rPr lang="en-US" sz="1600" dirty="0"/>
              <a:t>Execution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B0DEFF-6539-D1BD-9C22-5444F3302A60}"/>
              </a:ext>
            </a:extLst>
          </p:cNvPr>
          <p:cNvSpPr txBox="1"/>
          <p:nvPr/>
        </p:nvSpPr>
        <p:spPr>
          <a:xfrm>
            <a:off x="6784995" y="2883279"/>
            <a:ext cx="4156158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If syntax is wrong:</a:t>
            </a:r>
          </a:p>
          <a:p>
            <a:pPr algn="ctr"/>
            <a:endParaRPr lang="en-US"/>
          </a:p>
          <a:p>
            <a:pPr algn="ctr"/>
            <a:r>
              <a:rPr lang="en-US"/>
              <a:t>Parser</a:t>
            </a:r>
            <a:br>
              <a:rPr lang="en-US" dirty="0"/>
            </a:br>
            <a:r>
              <a:rPr lang="en-US" dirty="0"/>
              <a:t>    ↓</a:t>
            </a:r>
            <a:br>
              <a:rPr lang="en-US" dirty="0"/>
            </a:br>
            <a:r>
              <a:rPr lang="en-US" dirty="0"/>
              <a:t>SyntaxError</a:t>
            </a:r>
            <a:br>
              <a:rPr lang="en-US" dirty="0"/>
            </a:br>
            <a:r>
              <a:rPr lang="en-US" dirty="0"/>
              <a:t>    ↓</a:t>
            </a:r>
            <a:br>
              <a:rPr lang="en-US" dirty="0"/>
            </a:br>
            <a:r>
              <a:rPr lang="en-US" dirty="0"/>
              <a:t>Stop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No bytecode is generated.</a:t>
            </a:r>
          </a:p>
          <a:p>
            <a:pPr algn="ctr"/>
            <a:r>
              <a:rPr lang="en-US" dirty="0"/>
              <a:t>No execution happens.</a:t>
            </a:r>
          </a:p>
        </p:txBody>
      </p:sp>
    </p:spTree>
    <p:extLst>
      <p:ext uri="{BB962C8B-B14F-4D97-AF65-F5344CB8AC3E}">
        <p14:creationId xmlns:p14="http://schemas.microsoft.com/office/powerpoint/2010/main" val="3805297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</TotalTime>
  <Words>698</Words>
  <Application>Microsoft Office PowerPoint</Application>
  <PresentationFormat>Widescreen</PresentationFormat>
  <Paragraphs>163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Execution of Any Python Program</vt:lpstr>
      <vt:lpstr>Execution of Any Python Program</vt:lpstr>
      <vt:lpstr>Execution of Any Python Program</vt:lpstr>
      <vt:lpstr>Execution of Any Python Program</vt:lpstr>
      <vt:lpstr>Execution of Any Python Program</vt:lpstr>
      <vt:lpstr>Execution of Any Python Program</vt:lpstr>
      <vt:lpstr>Execution of Any Python Program</vt:lpstr>
      <vt:lpstr>Execution of Any Python Program</vt:lpstr>
      <vt:lpstr>Syntax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Ujjwal Verma</dc:creator>
  <cp:lastModifiedBy>Ujjwal Verma</cp:lastModifiedBy>
  <cp:revision>3</cp:revision>
  <dcterms:created xsi:type="dcterms:W3CDTF">2026-06-13T14:45:16Z</dcterms:created>
  <dcterms:modified xsi:type="dcterms:W3CDTF">2026-06-13T19:32:10Z</dcterms:modified>
</cp:coreProperties>
</file>